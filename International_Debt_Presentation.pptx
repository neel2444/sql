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548640"/>
            <a:ext cx="1737360" cy="173736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5943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ANALYSIS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Global Financial Patterns from the World Bank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828800" cy="137160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3017520"/>
            <a:ext cx="1828800" cy="137160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688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017520"/>
            <a:ext cx="1828800" cy="137160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$3.08T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8056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017520"/>
            <a:ext cx="1828800" cy="1371600"/>
          </a:xfrm>
          <a:prstGeom prst="rect">
            <a:avLst/>
          </a:prstGeom>
          <a:solidFill>
            <a:srgbClr val="334155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Portfolio Project  |  World Bank Dataset  |  R &amp; Excel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🗃️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data, 124 countries, 25 debt indicators, $3.08T total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61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🔍 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top countries, indicator breakdown, correlation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2316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📊 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box plots, scatter plots, heatmaps in R &amp; Excel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2316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🧪 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T-tests, Z-test, One-way ANOVA, Two-way ANOVA, Type I/II errors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5760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307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💡 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4041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Story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343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leads, indicator type matters, per-record debt patterns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5760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307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💻 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83480" y="4041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 &amp; Reproducibility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4343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ggplot2 + dplyr + car workflow for portfolio showcase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Bank — International Debt Statistics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1396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developing countries, World Bank borrowers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587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external debt obligations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358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3035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2,357 observations across 5 fields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838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4838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values in current USD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3931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data analysis &amp; statistical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&amp; SCHEMA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691640"/>
            <a:ext cx="3840480" cy="475488"/>
          </a:xfrm>
          <a:prstGeom prst="rect">
            <a:avLst/>
          </a:prstGeom>
          <a:solidFill>
            <a:srgbClr val="33415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709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country_name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of the country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231136"/>
            <a:ext cx="3840480" cy="475488"/>
          </a:xfrm>
          <a:prstGeom prst="rect">
            <a:avLst/>
          </a:prstGeom>
          <a:solidFill>
            <a:srgbClr val="33415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2494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4597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3-letter country 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770632"/>
            <a:ext cx="3840480" cy="475488"/>
          </a:xfrm>
          <a:prstGeom prst="rect">
            <a:avLst/>
          </a:prstGeom>
          <a:solidFill>
            <a:srgbClr val="33415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indicator_name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999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debt indicator description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3310128"/>
            <a:ext cx="3840480" cy="475488"/>
          </a:xfrm>
          <a:prstGeom prst="rect">
            <a:avLst/>
          </a:prstGeom>
          <a:solidFill>
            <a:srgbClr val="33415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3284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indicator_code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3538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indicator code (e.g. DT.AMT.*)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3849624"/>
            <a:ext cx="3840480" cy="475488"/>
          </a:xfrm>
          <a:prstGeom prst="rect">
            <a:avLst/>
          </a:prstGeom>
          <a:solidFill>
            <a:srgbClr val="33415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867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40782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amount in current USD (numeric)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$3.08T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External Debt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176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Across all 124 countries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201168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88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$1.31B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 Debt / Record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176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Heavily right-skewed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201168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$107.3M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Median Debt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176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Mean &gt;&gt; Median → outliers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201168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188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$96.2B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Maximum Single 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176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China, principal repayment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148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🏆  TOP 5 COUNTRIES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320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918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China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291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$285.8B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93592"/>
            <a:ext cx="320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935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3593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Brazil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593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$280.6B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95344"/>
            <a:ext cx="320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9534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3895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South Asia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8953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$247.6B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197096"/>
            <a:ext cx="320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970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" y="41970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Russian Federation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37560" y="41970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$191.3B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498848"/>
            <a:ext cx="320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4988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Turkey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37560" y="4498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$151.1B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788920"/>
            <a:ext cx="41148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📋  DEBT BY INDICATOR TYPE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3291840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291840"/>
            <a:ext cx="7315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291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AMT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Principal Repayments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52360" y="3291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$1.79T  58%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794760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794760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7784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Interest Payments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5236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$515B  17%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4297680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4297680"/>
            <a:ext cx="7315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4297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DIS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577840" y="4297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Disbursements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52360" y="4297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$776B  25%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TYPE I &amp; TYPE II ERROR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3200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H₀ IS TRUE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32004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H₀ IS FALSE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92024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192024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1546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FAIL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REJECT H₀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691640"/>
            <a:ext cx="3200400" cy="1371600"/>
          </a:xfrm>
          <a:prstGeom prst="rect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764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TYPE I ERROR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19456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False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α = 0.05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"Falsely reject H₀"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200400" cy="1371600"/>
          </a:xfrm>
          <a:prstGeom prst="rect">
            <a:avLst/>
          </a:prstGeom>
          <a:solidFill>
            <a:srgbClr val="10B981">
              <a:alpha val="8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764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CORRECT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Power = 1 − 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"Correctly reject H₀"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154680"/>
            <a:ext cx="3200400" cy="1371600"/>
          </a:xfrm>
          <a:prstGeom prst="rect">
            <a:avLst/>
          </a:prstGeom>
          <a:solidFill>
            <a:srgbClr val="10B981">
              <a:alpha val="8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2278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CORRECT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365760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True Negative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Specificity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"Correctly fail to reject"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154680"/>
            <a:ext cx="3200400" cy="1371600"/>
          </a:xfrm>
          <a:prstGeom prst="rect">
            <a:avLst/>
          </a:prstGeom>
          <a:solidFill>
            <a:srgbClr val="D97706">
              <a:alpha val="8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2278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TYPE II ERROR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65760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False Negative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β = 0.20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"Miss a real effect"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 this project: α = 0.05 | Power = 0.80 | β = 0.20 (standard thresholds for academic research)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HYPOTHESIS TESTING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64008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H₀: Mean debt = 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12.14, p &lt; 0.001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353312"/>
            <a:ext cx="12801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REJECT H₀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3977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Confirms: debt values are significantly &gt; zero (data validity check)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521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 (China vs Brazil)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4264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H₀: μ_China = μ_Brazil (per record)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184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0.034, p = 0.973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1353312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 TO REJECT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1847088"/>
            <a:ext cx="3977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Per-indicator debt is statistically similar, despite China leading in totals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395728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39572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(Large Sample, China vs Brazil)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27249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H₀: Proportions equal (large n approx.)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916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0.034, p = 0.973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63240" y="2651760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651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 TO REJECT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145536"/>
            <a:ext cx="3977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Confirms T-test finding — large-sample approximation yields same conclusion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395728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39572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(Top 5 Countries)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7249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H₀: All top-5 country means are equal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916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0.175, p = 0.951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98080" y="2651760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2651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 TO REJECT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0600" y="3145536"/>
            <a:ext cx="3977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within-group variance dominates; no significant between-country effect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694176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694176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749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(Indicator Type × Category)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023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H₀: AMT, INT, DIS means are equal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2153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1.84, p = 0.159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63240" y="3950208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39502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 TO REJECT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4443984"/>
            <a:ext cx="3977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Indicator type doesn't significantly affect amount after log-transformation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694176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694176"/>
            <a:ext cx="64008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749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High vs Low Indicator Groups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00600" y="4023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H₀: High &amp; low indicator means equal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42153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6.57, p &lt; 0.001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98080" y="3950208"/>
            <a:ext cx="12801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39502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REJECT H₀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0600" y="4443984"/>
            <a:ext cx="3977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Principal repayment indicators carry significantly more debt than others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05  R VISUALIZATION FORMULAS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Graph 1 — Horizontal Bar (Top 10 Countries)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40233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ggplot(top10, aes(x=reorder(country_name,total_debt), y=total_debt, fill=total_debt))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geom_col() + coord_flip()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scale_fill_gradient(low='#14B8A6', high='#0D9488')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labs(title='Top 10 Countries by Debt') + theme_minimal()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Graph 2 — Histogram (Log Scale Distribution)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40233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ggplot(df, aes(x=log10(debt+1)))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geom_histogram(bins=40, fill='#0D9488')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geom_vline(xintercept=log10(mean(df$debt)), color='red')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labs(x='log10(Debt)', title='Debt Distribution') + theme_minimal()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017520"/>
            <a:ext cx="42062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Graph 3 — Box Plot (By Indicator Type)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401568"/>
            <a:ext cx="40233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df$cat &lt;- substr(df$indicator_code, 4, 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ggplot(df, aes(x=cat, y=log10(debt+1), fill=cat))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geom_boxplot(outlier.color='#EF4444')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scale_fill_manual(values=c('AMT'='#0D9488','INT'='#F59E0B','DIS'='#1B2A4A'))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01752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Graph 4 — Scatter + LOESS (Rank vs Debt)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3401568"/>
            <a:ext cx="40233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ggplot(country_rank, aes(x=rank, y=total, size=n_ind))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geom_point(alpha=0.6, color='#0D9488')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geom_smooth(method='loess', color='red')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geom_text_repel(data=head(country_rank,10), aes(label=country_name))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scale_y_log10() + theme_minimal()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KEY INSIGHTS &amp; DATA STORY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🏆  China &amp; Brazil Dominate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($285.8B) and Brazil ($280.6B) hold the most total external debt — together accounting for nearly 19% of all debt in the dataset. Regional aggregates like 'South Asia' also rank high, masking individual country contributions.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📉  Extreme Right Skew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debt ($1.31B) is 12× the median ($107M), revealing extreme right skew. A handful of large debt records (like China's $96.2B principal repayment) pull the mean far above the typical record.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487168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487168"/>
            <a:ext cx="64008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🔬  Per-Record, Countries Are Similar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9864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different total debts, the T-test and Z-test show China and Brazil have statistically similar per-indicator debt amounts (p=0.97). Total debt differences are driven by number of indicators, not per-indicator size.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487168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87168"/>
            <a:ext cx="6400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💰  Principal Repayment = Biggest Burden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89864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 (principal repayments) account for 58% of all debt records. The High vs Low indicator T-test confirms AMT indicators carry significantly more debt than interest or disbursement indicators (p&lt;0.001).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785616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85616"/>
            <a:ext cx="64008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58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📊  25 Indicators, 3 Categories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9709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indicators fall into 3 types: AMT (principal), INT (interest), DIS (disbursements). Two-way ANOVA shows no significant interaction after log-transformation — the indicator structure is parallel across countries.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785616"/>
            <a:ext cx="4206240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85616"/>
            <a:ext cx="64008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858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🌏  Coverage is Near-Universal for Major Indicators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19709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25 indicators cover all 124 countries. Niche indicators like DT.DIS.PROP (private property disbursements) cover only 19 countries, reflecting data availability gaps in smaller economies.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A8C8E8"/>
                </a:solidFill>
              </a:rPr>
              <a:t>WHAT THIS PROJECT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</a:rPr>
              <a:t>DEMONSTRATES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93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9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 Programming: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745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</a:rPr>
              <a:t>dplyr, ggplot2, car, tidyr, scales, ggrepel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3500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Statistical Testing: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3500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</a:rPr>
              <a:t>T-test, Z-test, One-way &amp; Two-way ANOVA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8254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EDA Methodology: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28254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</a:rPr>
              <a:t>Distribution analysis, outlier detection, skew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3009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Error Frameworks: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3009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</a:rPr>
              <a:t>Type I/II errors, significance levels, power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31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7764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Excel Dashboards: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7764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</a:rPr>
              <a:t>KPIs, charts, conditional formatting, formulas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068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06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2519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Data Storytelling: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4251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</a:rPr>
              <a:t>Translate numbers into actionable narrative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1463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Portfolio-Ready Project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Built with R + Excel + Statistical Rigor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2514600"/>
            <a:ext cx="777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514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2514600"/>
            <a:ext cx="777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514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0" y="2514600"/>
            <a:ext cx="777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514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83880" y="2514600"/>
            <a:ext cx="7772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2514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World Bank International Debt Statistics  |  Data Portfolio Project  |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Debt Analysis - World Bank</dc:title>
  <dc:subject>PptxGenJS Presentation</dc:subject>
  <dc:creator>Data Portfolio Project</dc:creator>
  <cp:lastModifiedBy>Data Portfolio Project</cp:lastModifiedBy>
  <cp:revision>1</cp:revision>
  <dcterms:created xsi:type="dcterms:W3CDTF">2026-04-04T14:43:18Z</dcterms:created>
  <dcterms:modified xsi:type="dcterms:W3CDTF">2026-04-04T14:43:18Z</dcterms:modified>
</cp:coreProperties>
</file>