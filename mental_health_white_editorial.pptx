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8" d="100"/>
          <a:sy n="128" d="100"/>
        </p:scale>
        <p:origin x="22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l Shah" userId="c1fb45f165b7ba58" providerId="LiveId" clId="{DEB6E644-71B3-4902-BC97-AC64D14C8BEE}"/>
    <pc:docChg chg="modSld">
      <pc:chgData name="Neel Shah" userId="c1fb45f165b7ba58" providerId="LiveId" clId="{DEB6E644-71B3-4902-BC97-AC64D14C8BEE}" dt="2026-03-26T12:29:56.999" v="4" actId="255"/>
      <pc:docMkLst>
        <pc:docMk/>
      </pc:docMkLst>
      <pc:sldChg chg="modSp mod">
        <pc:chgData name="Neel Shah" userId="c1fb45f165b7ba58" providerId="LiveId" clId="{DEB6E644-71B3-4902-BC97-AC64D14C8BEE}" dt="2026-03-26T12:29:56.999" v="4" actId="255"/>
        <pc:sldMkLst>
          <pc:docMk/>
          <pc:sldMk cId="0" sldId="256"/>
        </pc:sldMkLst>
        <pc:spChg chg="mod">
          <ac:chgData name="Neel Shah" userId="c1fb45f165b7ba58" providerId="LiveId" clId="{DEB6E644-71B3-4902-BC97-AC64D14C8BEE}" dt="2026-03-26T12:29:41.174" v="3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Neel Shah" userId="c1fb45f165b7ba58" providerId="LiveId" clId="{DEB6E644-71B3-4902-BC97-AC64D14C8BEE}" dt="2026-03-26T12:29:56.999" v="4" actId="255"/>
          <ac:spMkLst>
            <pc:docMk/>
            <pc:sldMk cId="0" sldId="256"/>
            <ac:spMk id="7" creationId="{00000000-0000-0000-0000-000000000000}"/>
          </ac:spMkLst>
        </pc:spChg>
        <pc:spChg chg="mod">
          <ac:chgData name="Neel Shah" userId="c1fb45f165b7ba58" providerId="LiveId" clId="{DEB6E644-71B3-4902-BC97-AC64D14C8BEE}" dt="2026-03-26T12:29:37.003" v="2" actId="14100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93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-109728" y="11430"/>
            <a:ext cx="5303520" cy="5061204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PROJECT  ·  JAPANESE UNIVERSITY  ·  2024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Analyzing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02920" y="131673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Students'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247802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Health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4114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502920" y="3264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staying longer at a Japanese university help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hurt international students' mental health?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1078992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02920" y="378561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41879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73352" y="3749040"/>
            <a:ext cx="1078992" cy="822960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1673352" y="378561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73352" y="41879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843784" y="3749040"/>
            <a:ext cx="1078992" cy="82296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2843784" y="378561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43784" y="41879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014216" y="3749040"/>
            <a:ext cx="1078992" cy="822960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014216" y="378561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14216" y="41879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77840" y="502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MENTAL HEALTH MEASURES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804672"/>
            <a:ext cx="3429000" cy="1261872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5486400" y="804672"/>
            <a:ext cx="54864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650992" y="8961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ToDep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40880" y="896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8.04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50992" y="1261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Score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50992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0 – 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50992" y="17373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= more depressed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2194560"/>
            <a:ext cx="3429000" cy="1261872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5486400" y="2194560"/>
            <a:ext cx="54864" cy="1261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5650992" y="22860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ToSC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040880" y="2286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37.42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50992" y="2651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Connectedness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50992" y="2926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0 – 48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50992" y="31272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= stronger belonging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0" y="3584448"/>
            <a:ext cx="3429000" cy="1261872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8" name="Shape 36"/>
          <p:cNvSpPr/>
          <p:nvPr/>
        </p:nvSpPr>
        <p:spPr>
          <a:xfrm>
            <a:off x="5486400" y="3584448"/>
            <a:ext cx="54864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5650992" y="36758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ToAS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040880" y="36758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75.56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650992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Acculturative Stress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50992" y="4315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0 – 145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50992" y="45171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= more culture stress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457200" y="49926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International Student Survey · Japanese University  |  Tool: MySQL / SQLite  |  Neel Shah · Data Analytics Portfolio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DATASET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data before writing any queries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 students · 50 variables · Japanese university survey · MySQL / SQLite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60704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2011680" cy="2148840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2011680" cy="5486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" y="18105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total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084832"/>
            <a:ext cx="173736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502920" y="2139696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international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domestic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null rows removed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42032" y="1207008"/>
            <a:ext cx="2011680" cy="214884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2542032" y="1207008"/>
            <a:ext cx="2011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2679192" y="12984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679192" y="18105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regions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79192" y="2084832"/>
            <a:ext cx="1737360" cy="0"/>
          </a:xfrm>
          <a:prstGeom prst="line">
            <a:avLst/>
          </a:prstGeom>
          <a:noFill/>
          <a:ln w="762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2679192" y="2139696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SEA: 122 students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EA:  48 students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SA:  18 students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18304" y="1207008"/>
            <a:ext cx="2011680" cy="2148840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4718304" y="1207008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4855464" y="12984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855464" y="18105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students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55464" y="2084832"/>
            <a:ext cx="1737360" cy="0"/>
          </a:xfrm>
          <a:prstGeom prst="line">
            <a:avLst/>
          </a:prstGeom>
          <a:noFill/>
          <a:ln w="762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855464" y="2139696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female, 73 male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 undergrad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graduate students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94576" y="1207008"/>
            <a:ext cx="2011680" cy="2148840"/>
          </a:xfrm>
          <a:prstGeom prst="rect">
            <a:avLst/>
          </a:prstGeom>
          <a:solidFill>
            <a:srgbClr val="F0FDFA"/>
          </a:solidFill>
          <a:ln w="10160">
            <a:solidFill>
              <a:srgbClr val="99F6E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6894576" y="1207008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7031736" y="12984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031736" y="18105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scores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31736" y="2084832"/>
            <a:ext cx="1737360" cy="0"/>
          </a:xfrm>
          <a:prstGeom prst="line">
            <a:avLst/>
          </a:prstGeom>
          <a:noFill/>
          <a:ln w="762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7031736" y="2139696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ToDep · ToSC · ToAS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 scales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details below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493008"/>
            <a:ext cx="8412480" cy="1261872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594360" y="360273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GUIDE — what each number means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" y="3895344"/>
            <a:ext cx="658368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594360" y="38953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ToDep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25880" y="38770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depression scale. Range 0–25. Score above 10 = moderate/severe depression. Dataset average: 8.04 (mild range).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37560" y="3895344"/>
            <a:ext cx="658368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3337560" y="38953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69080" y="38770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connectedness scale. Range 0–48. Higher = stronger belonging. Average 37.42 suggests moderate connection.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80760" y="3895344"/>
            <a:ext cx="658368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6080760" y="38953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12280" y="38770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Acculturative stress scale. Range 0–145. Measures adapting to new culture. Average 75.56 — moderate-high stress.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457200" y="49926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used on this slide: SELECT · COUNT() · DISTINCT · GROUP BY · WHERE IS NOT NULL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&amp; 2 — STAY DISTRIBUTION + BASELINE SCORES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long do students stay? What are the overall averages?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COUNT() · AVG() · ROUND() · GROUP BY · ORDER BY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60704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 — international students only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68680" cy="2286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89534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72768" y="2902017"/>
            <a:ext cx="868680" cy="93846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1572768" y="2581977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72768" y="389534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88336" y="2733575"/>
            <a:ext cx="868680" cy="11069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2688336" y="2413535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88336" y="389534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03904" y="3503596"/>
            <a:ext cx="868680" cy="3368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3803904" y="31835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03904" y="389534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4462272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4572000" cy="502920"/>
          </a:xfrm>
          <a:prstGeom prst="rect">
            <a:avLst/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621792" y="4251960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47% of students stay only 1 year — sample shrinks sharply after year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12070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 scores (all international students)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94960" y="1554480"/>
            <a:ext cx="3520440" cy="868680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5394960" y="155448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541264" y="16276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8.04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41264" y="20482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Depression Score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25 — mild range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94960" y="2560320"/>
            <a:ext cx="3520440" cy="868680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5394960" y="2560320"/>
            <a:ext cx="54864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5541264" y="26334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37.42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541264" y="30540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Social Connectedness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944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48 — moderate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94960" y="3566160"/>
            <a:ext cx="3520440" cy="868680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5394960" y="3566160"/>
            <a:ext cx="54864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5541264" y="36393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75.56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541264" y="40599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Acculturative Stress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145 — moderate-high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457200" y="49926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SELECT Stay, COUNT(*) FROM students WHERE inter_dom='Inter' GROUP BY Stay ORDER BY Stay ASC;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— CORE ANALYSIS (THE BIG QUESTION)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staying longer at university improve mental health?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GROUP BY · AVG() · ROUND() · COUNT() · ORDER BY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60704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8229600" cy="65836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 is No. Longer stay does not improve mental health 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depression rises 21% from Year 1 to Year 3, and stress peaks at Year 4.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512064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548640" y="2029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Stay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72768" y="2029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96896" y="2029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↑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21024" y="2029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Conn 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45152" y="2029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↑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5120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66928" y="24688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72768" y="24688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96896" y="24688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21024" y="24688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45152" y="24688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72.80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862072"/>
            <a:ext cx="512064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566928" y="2971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72768" y="29718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96896" y="29718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21024" y="29718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45152" y="29718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77.67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364992"/>
            <a:ext cx="512064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566928" y="3474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72768" y="34747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96896" y="3474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21024" y="3474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45152" y="3474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867912"/>
            <a:ext cx="512064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566928" y="3977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72768" y="39776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96896" y="3977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21024" y="3977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45152" y="3977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52160" y="12070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findings from this query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852160" y="1572768"/>
            <a:ext cx="3017520" cy="694944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3" name="Shape 41"/>
          <p:cNvSpPr/>
          <p:nvPr/>
        </p:nvSpPr>
        <p:spPr>
          <a:xfrm>
            <a:off x="5852160" y="1572768"/>
            <a:ext cx="54864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42"/>
          <p:cNvSpPr/>
          <p:nvPr/>
        </p:nvSpPr>
        <p:spPr>
          <a:xfrm>
            <a:off x="6016752" y="16367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rises +21%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16752" y="1892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7.48 (yr 1) to 9.09 (yr 3) — a significant worsening.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852160" y="2377440"/>
            <a:ext cx="3017520" cy="694944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7" name="Shape 45"/>
          <p:cNvSpPr/>
          <p:nvPr/>
        </p:nvSpPr>
        <p:spPr>
          <a:xfrm>
            <a:off x="5852160" y="2377440"/>
            <a:ext cx="54864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46"/>
          <p:cNvSpPr/>
          <p:nvPr/>
        </p:nvSpPr>
        <p:spPr>
          <a:xfrm>
            <a:off x="6016752" y="2441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bonds weaken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16752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Connectedness drops from 38.11 → 33.93 by year 4.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52160" y="3182112"/>
            <a:ext cx="3017520" cy="694944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1" name="Shape 49"/>
          <p:cNvSpPr/>
          <p:nvPr/>
        </p:nvSpPr>
        <p:spPr>
          <a:xfrm>
            <a:off x="5852160" y="3182112"/>
            <a:ext cx="54864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Text 50"/>
          <p:cNvSpPr/>
          <p:nvPr/>
        </p:nvSpPr>
        <p:spPr>
          <a:xfrm>
            <a:off x="6016752" y="3246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peaks at Year 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016752" y="3502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87.71 acculturative stress — the highest in the dataset.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52160" y="3986784"/>
            <a:ext cx="3017520" cy="694944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5" name="Shape 53"/>
          <p:cNvSpPr/>
          <p:nvPr/>
        </p:nvSpPr>
        <p:spPr>
          <a:xfrm>
            <a:off x="5852160" y="3986784"/>
            <a:ext cx="54864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Text 54"/>
          <p:cNvSpPr/>
          <p:nvPr/>
        </p:nvSpPr>
        <p:spPr>
          <a:xfrm>
            <a:off x="6016752" y="4050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is the healthiest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016752" y="4306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students arrive optimistic. Struggle sets in at year 2.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Text 57"/>
          <p:cNvSpPr/>
          <p:nvPr/>
        </p:nvSpPr>
        <p:spPr>
          <a:xfrm>
            <a:off x="457200" y="49926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SELECT Stay, COUNT(*), ROUND(AVG(ToDep),2), ROUND(AVG(ToSC),2), ROUND(AVG(ToAS),2) FROM students WHERE inter_dom='Inter' GROUP BY Stay ORDER BY Stay;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4 &amp; 5 — SEVERITY LEVELS + GENDER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most at risk? Depression severity and gender analysis.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IN · GROUP BY · AVG() · COUNT() · ORDER BY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60704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severity — 201 international students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2590800" cy="457200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54864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39440" y="16824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students (25%)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4114800" cy="457200"/>
          </a:xfrm>
          <a:prstGeom prst="rect">
            <a:avLst/>
          </a:prstGeom>
          <a:solidFill>
            <a:srgbClr val="F0FDFA"/>
          </a:solidFill>
          <a:ln w="1016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9436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2860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students (40%)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2692400" cy="457200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57200" y="2779776"/>
            <a:ext cx="5486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94360" y="28712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1040" y="2889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students (26%)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558800" cy="457200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54864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594360" y="3474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Mod-Severe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7440" y="34930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students ( 5%)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986784"/>
            <a:ext cx="254000" cy="4572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457200" y="3986784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94360" y="40782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2640" y="40965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students ( 2%)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645152"/>
            <a:ext cx="4572000" cy="502920"/>
          </a:xfrm>
          <a:prstGeom prst="rect">
            <a:avLst/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621792" y="4736592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81% fall in Mild–Moderate range. Only 8% are Severe.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94960" y="12070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vs mental health scores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94960" y="1572768"/>
            <a:ext cx="3520440" cy="1371600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5394960" y="1572768"/>
            <a:ext cx="54864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5541264" y="1664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 (128 students)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541264" y="2011680"/>
            <a:ext cx="3246120" cy="0"/>
          </a:xfrm>
          <a:prstGeom prst="line">
            <a:avLst/>
          </a:prstGeom>
          <a:noFill/>
          <a:ln w="762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5541264" y="2103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41264" y="23225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711696" y="2103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11696" y="23225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36.93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882128" y="2103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82128" y="23225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78.20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5394960" y="3081528"/>
            <a:ext cx="3520440" cy="137160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5394960" y="3081528"/>
            <a:ext cx="54864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5541264" y="31729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 (73 students)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541264" y="3520440"/>
            <a:ext cx="3246120" cy="0"/>
          </a:xfrm>
          <a:prstGeom prst="line">
            <a:avLst/>
          </a:prstGeom>
          <a:noFill/>
          <a:ln w="762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5541264" y="3611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41264" y="38313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7.48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711696" y="3611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11696" y="38313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38.27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882128" y="3611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882128" y="38313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70.95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5394960" y="4645152"/>
            <a:ext cx="3520440" cy="502920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2" name="Text 50"/>
          <p:cNvSpPr/>
          <p:nvPr/>
        </p:nvSpPr>
        <p:spPr>
          <a:xfrm>
            <a:off x="5559552" y="4736592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Females show higher depression &amp; stress. Males more socially connected.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ext 52"/>
          <p:cNvSpPr/>
          <p:nvPr/>
        </p:nvSpPr>
        <p:spPr>
          <a:xfrm>
            <a:off x="457200" y="49926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SELECT Gender, COUNT(*), ROUND(AVG(ToDep),2) FROM students WHERE inter_dom='Inter' GROUP BY Gender ORDER BY AVG(ToDep) DESC;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6 &amp; 7 — ACADEMIC LEVEL + LANGUAGE PROFICIENCY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graduate students cope better? Does language proficiency help?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GROUP BY · AVG() · ROUND() · IN · ORDER BY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60704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vs Graduate mental health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4572000" cy="1298448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54864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21792" y="1664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— 181 students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4224528" cy="0"/>
          </a:xfrm>
          <a:prstGeom prst="line">
            <a:avLst/>
          </a:prstGeom>
          <a:noFill/>
          <a:ln w="762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21792" y="2084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" y="23225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30552" y="2084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30552" y="23225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39312" y="2084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39312" y="23225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75.54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7200" y="3035808"/>
            <a:ext cx="4572000" cy="1298448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457200" y="3035808"/>
            <a:ext cx="54864" cy="1298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21792" y="3127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— 20 students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" y="3456432"/>
            <a:ext cx="4224528" cy="0"/>
          </a:xfrm>
          <a:prstGeom prst="line">
            <a:avLst/>
          </a:prstGeom>
          <a:noFill/>
          <a:ln w="762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621792" y="3547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" y="37856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4.95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130552" y="3547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30552" y="37856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40.90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639312" y="3547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39312" y="37856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75.80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57200" y="4645152"/>
            <a:ext cx="4572000" cy="502920"/>
          </a:xfrm>
          <a:prstGeom prst="rect">
            <a:avLst/>
          </a:prstGeom>
          <a:solidFill>
            <a:srgbClr val="F0FDF4"/>
          </a:solidFill>
          <a:ln w="1016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621792" y="4736592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Graduates show 41% lower depression (4.95 vs 8.39) — maturity is protective.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94960" y="12070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proficiency vs depression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94960" y="15727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proficiency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94960" y="1883664"/>
            <a:ext cx="1097280" cy="868680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5394960" y="19202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94960" y="21579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7.40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583680" y="1883664"/>
            <a:ext cx="1097280" cy="868680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6583680" y="19202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0" y="21579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8.38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772400" y="1883664"/>
            <a:ext cx="1097280" cy="868680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7772400" y="19202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21579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7.91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394960" y="3081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proficiency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94960" y="3392424"/>
            <a:ext cx="1097280" cy="868680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5394960" y="3429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94960" y="36667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7.93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6583680" y="3392424"/>
            <a:ext cx="1097280" cy="868680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6" name="Text 44"/>
          <p:cNvSpPr/>
          <p:nvPr/>
        </p:nvSpPr>
        <p:spPr>
          <a:xfrm>
            <a:off x="6583680" y="3429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83680" y="36667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8.46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772400" y="3392424"/>
            <a:ext cx="1097280" cy="868680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7772400" y="3429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36667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8.00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5394960" y="4645152"/>
            <a:ext cx="3520440" cy="502920"/>
          </a:xfrm>
          <a:prstGeom prst="rect">
            <a:avLst/>
          </a:prstGeom>
          <a:solidFill>
            <a:srgbClr val="F0FDFA"/>
          </a:solidFill>
          <a:ln w="1016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2" name="Text 50"/>
          <p:cNvSpPr/>
          <p:nvPr/>
        </p:nvSpPr>
        <p:spPr>
          <a:xfrm>
            <a:off x="5559552" y="4736592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Higher language skills = lower depression in both languages.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ext 52"/>
          <p:cNvSpPr/>
          <p:nvPr/>
        </p:nvSpPr>
        <p:spPr>
          <a:xfrm>
            <a:off x="457200" y="49926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SELECT Academic, ROUND(AVG(ToDep),2), ROUND(AVG(ToSC),2) FROM students WHERE inter_dom='Inter' GROUP BY Academic ORDER BY AVG(ToDep) DESC;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8 &amp; 9 — REGIONAL ANALYSIS + SUBQUERY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regions struggle most? Who scores above average depression?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HAVING · GROUP BY · Subquery · COUNT() · WHERE · AVG()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60704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breakdown — depression scores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4572000" cy="84124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502920" cy="841248"/>
          </a:xfrm>
          <a:prstGeom prst="rect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16459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East Asia · 122 students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78992" y="192024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Depression: 8.20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67712" y="192024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36.61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56432" y="192024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Stress: 77.79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572000" cy="841248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502920" cy="841248"/>
          </a:xfrm>
          <a:prstGeom prst="rect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6334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Asia · 48 students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78992" y="290779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Depression: 8.25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67712" y="290779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38.56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56432" y="290779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Stress: 69.96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47872"/>
            <a:ext cx="4572000" cy="841248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457200" y="3547872"/>
            <a:ext cx="502920" cy="841248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57200" y="354787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78992" y="36210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Asia · 18 students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78992" y="389534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Depression: 7.06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67712" y="389534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40.17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56432" y="389534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Stress: 74.61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645152"/>
            <a:ext cx="4572000" cy="502920"/>
          </a:xfrm>
          <a:prstGeom prst="rect">
            <a:avLst/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621792" y="4736592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SEA &amp; EA show highest depression. South Asian students most connected.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12070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— students above average depression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94960" y="1536192"/>
            <a:ext cx="3520440" cy="1993392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5394960" y="1536192"/>
            <a:ext cx="352044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5486400" y="1572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41264" y="1865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Gender, Stay, ToDep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41264" y="204825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students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41264" y="223113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inter_dom = 'Inter'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41264" y="24140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ToDep &gt; (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41264" y="259689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SELECT AVG(ToDep)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41264" y="27797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FROM students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41264" y="296265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WHERE inter_dom='Inter'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41264" y="314553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41264" y="33284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ToDep DESC;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94960" y="3602736"/>
            <a:ext cx="3520440" cy="98755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5" name="Shape 43"/>
          <p:cNvSpPr/>
          <p:nvPr/>
        </p:nvSpPr>
        <p:spPr>
          <a:xfrm>
            <a:off x="5394960" y="3602736"/>
            <a:ext cx="54864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 44"/>
          <p:cNvSpPr/>
          <p:nvPr/>
        </p:nvSpPr>
        <p:spPr>
          <a:xfrm>
            <a:off x="5541264" y="3657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Why subqueries matter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41264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hardcoding 8.04, the inner query calculates the average automatically. If the data changes, the result stays accurate — that is professional SQL.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457200" y="49926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SELECT Region, COUNT(*), ROUND(AVG(ToDep),2) FROM students WHERE inter_dom='Inter' GROUP BY Region HAVING COUNT(*) &gt;= 10 ORDER BY AVG(ToDep) DESC;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10 &amp; 12 — HELP SEEKING + CRISIS POINT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students turn? What year is the mental health crisis point?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AVG() · ROUND() · Subquery · HAVING · GROUP BY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60704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students seek support?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4206240" cy="402336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54864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94360" y="16550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36592" y="1655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4.29/5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75688"/>
            <a:ext cx="4078778" cy="402336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457200" y="2075688"/>
            <a:ext cx="54864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9436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09130" y="21579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4.16/5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78608"/>
            <a:ext cx="3814050" cy="402336"/>
          </a:xfrm>
          <a:prstGeom prst="rect">
            <a:avLst/>
          </a:prstGeom>
          <a:solidFill>
            <a:srgbClr val="F0FDFA"/>
          </a:solidFill>
          <a:ln w="1016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57200" y="2578608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94360" y="2660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44402" y="26609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3.89/5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81528"/>
            <a:ext cx="3049279" cy="402336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457200" y="3081528"/>
            <a:ext cx="54864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594360" y="31638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79631" y="31638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3.11/5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84448"/>
            <a:ext cx="3010060" cy="402336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457200" y="3584448"/>
            <a:ext cx="54864" cy="40233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94360" y="36667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40412" y="36667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3.07/5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87368"/>
            <a:ext cx="2833574" cy="402336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457200" y="4087368"/>
            <a:ext cx="54864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594360" y="4169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63926" y="4169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2.89/5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645152"/>
            <a:ext cx="4572000" cy="502920"/>
          </a:xfrm>
          <a:prstGeom prst="rect">
            <a:avLst/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621792" y="4736592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Professional help is the LEAST used (2.89) — a critical system gap.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94960" y="12070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 point — final subquery result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94960" y="1572768"/>
            <a:ext cx="3520440" cy="658368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6" name="Shape 34"/>
          <p:cNvSpPr/>
          <p:nvPr/>
        </p:nvSpPr>
        <p:spPr>
          <a:xfrm>
            <a:off x="5394960" y="1572768"/>
            <a:ext cx="54864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5541264" y="16824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63640" y="16824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Dep: 7.48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69480" y="16824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Str: 72.80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41264" y="1956816"/>
            <a:ext cx="1463040" cy="182880"/>
          </a:xfrm>
          <a:prstGeom prst="rect">
            <a:avLst/>
          </a:prstGeom>
          <a:solidFill>
            <a:srgbClr val="16A34A">
              <a:alpha val="75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5541264" y="19568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Healthiest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394960" y="2322576"/>
            <a:ext cx="3520440" cy="658368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3" name="Shape 41"/>
          <p:cNvSpPr/>
          <p:nvPr/>
        </p:nvSpPr>
        <p:spPr>
          <a:xfrm>
            <a:off x="5394960" y="2322576"/>
            <a:ext cx="54864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42"/>
          <p:cNvSpPr/>
          <p:nvPr/>
        </p:nvSpPr>
        <p:spPr>
          <a:xfrm>
            <a:off x="5541264" y="24323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63640" y="24323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Dep: 8.28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269480" y="24323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Str: 77.67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41264" y="2706624"/>
            <a:ext cx="1463040" cy="182880"/>
          </a:xfrm>
          <a:prstGeom prst="rect">
            <a:avLst/>
          </a:prstGeom>
          <a:solidFill>
            <a:srgbClr val="D97706">
              <a:alpha val="7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46"/>
          <p:cNvSpPr/>
          <p:nvPr/>
        </p:nvSpPr>
        <p:spPr>
          <a:xfrm>
            <a:off x="5541264" y="27066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394960" y="3072384"/>
            <a:ext cx="3520440" cy="65836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0" name="Shape 48"/>
          <p:cNvSpPr/>
          <p:nvPr/>
        </p:nvSpPr>
        <p:spPr>
          <a:xfrm>
            <a:off x="5394960" y="3072384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5541264" y="31821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63640" y="31821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Dep: 9.09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269480" y="31821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Str: 78.00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541264" y="3456432"/>
            <a:ext cx="1463040" cy="182880"/>
          </a:xfrm>
          <a:prstGeom prst="rect">
            <a:avLst/>
          </a:prstGeom>
          <a:solidFill>
            <a:srgbClr val="DC2626">
              <a:alpha val="7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Text 53"/>
          <p:cNvSpPr/>
          <p:nvPr/>
        </p:nvSpPr>
        <p:spPr>
          <a:xfrm>
            <a:off x="5541264" y="3456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Point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394960" y="3822192"/>
            <a:ext cx="3520440" cy="658368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7" name="Shape 55"/>
          <p:cNvSpPr/>
          <p:nvPr/>
        </p:nvSpPr>
        <p:spPr>
          <a:xfrm>
            <a:off x="5394960" y="3822192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Text 56"/>
          <p:cNvSpPr/>
          <p:nvPr/>
        </p:nvSpPr>
        <p:spPr>
          <a:xfrm>
            <a:off x="5541264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263640" y="3931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Dep: 8.57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269480" y="3931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Str: 87.71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541264" y="4206240"/>
            <a:ext cx="1463040" cy="182880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Text 60"/>
          <p:cNvSpPr/>
          <p:nvPr/>
        </p:nvSpPr>
        <p:spPr>
          <a:xfrm>
            <a:off x="5541264" y="4206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Stress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4" name="Text 62"/>
          <p:cNvSpPr/>
          <p:nvPr/>
        </p:nvSpPr>
        <p:spPr>
          <a:xfrm>
            <a:off x="457200" y="49926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SELECT Stay, ROUND(AVG(ToDep),2) FROM students WHERE inter_dom='Inter' AND Stay IN (SELECT DISTINCT Stay FROM students WHERE Stay&lt;=4) GROUP BY Stay HAVING COUNT(*)&gt;=10 ORDER BY AVG(ToDep) DESC;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4114800" cy="5061204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2918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findings from 12 SQL queries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286 students at a Japanese university.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SKILLS DEMONSTRATED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627632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· FROM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40280" y="2743200"/>
            <a:ext cx="1627632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2240280" y="27432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· HAVING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1627632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40280" y="3108960"/>
            <a:ext cx="1627632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2240280" y="31089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1627632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AVG() · COUNT()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40280" y="3474720"/>
            <a:ext cx="1627632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2240280" y="347472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ROUND() · MIN()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627632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· BETWEEN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40280" y="3840480"/>
            <a:ext cx="1627632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2240280" y="38404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1627632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40280" y="4206240"/>
            <a:ext cx="1627632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2240280" y="42062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97680" y="164592"/>
            <a:ext cx="4663440" cy="859536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4297680" y="164592"/>
            <a:ext cx="54864" cy="8595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4407408" y="365760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4407408" y="365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2194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stay ≠ better mental health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51206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rises from 7.48 (yr 1) to 9.09 (yr 3). Year 3 is the crisis — not the first year.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97680" y="1133856"/>
            <a:ext cx="4663440" cy="859536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6" name="Shape 34"/>
          <p:cNvSpPr/>
          <p:nvPr/>
        </p:nvSpPr>
        <p:spPr>
          <a:xfrm>
            <a:off x="4297680" y="1133856"/>
            <a:ext cx="54864" cy="859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4407408" y="133502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4407408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64608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students are the healthiest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64608" y="148132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students arrive optimistic. The isolation sets in after year 2 when novelty fades.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97680" y="2103120"/>
            <a:ext cx="4663440" cy="859536"/>
          </a:xfrm>
          <a:prstGeom prst="rect">
            <a:avLst/>
          </a:prstGeom>
          <a:solidFill>
            <a:srgbClr val="F0FDFA"/>
          </a:solidFill>
          <a:ln w="10160">
            <a:solidFill>
              <a:srgbClr val="99F6E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4297680" y="2103120"/>
            <a:ext cx="54864" cy="8595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Shape 41"/>
          <p:cNvSpPr/>
          <p:nvPr/>
        </p:nvSpPr>
        <p:spPr>
          <a:xfrm>
            <a:off x="4407408" y="230428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42"/>
          <p:cNvSpPr/>
          <p:nvPr/>
        </p:nvSpPr>
        <p:spPr>
          <a:xfrm>
            <a:off x="4407408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64608" y="2157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is a mental health shield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64608" y="24505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proficiency in Japanese and English consistently links to lower depression scores.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297680" y="3072384"/>
            <a:ext cx="4663440" cy="859536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8" name="Shape 46"/>
          <p:cNvSpPr/>
          <p:nvPr/>
        </p:nvSpPr>
        <p:spPr>
          <a:xfrm>
            <a:off x="4297680" y="3072384"/>
            <a:ext cx="54864" cy="8595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Shape 47"/>
          <p:cNvSpPr/>
          <p:nvPr/>
        </p:nvSpPr>
        <p:spPr>
          <a:xfrm>
            <a:off x="4407408" y="3273552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Text 48"/>
          <p:cNvSpPr/>
          <p:nvPr/>
        </p:nvSpPr>
        <p:spPr>
          <a:xfrm>
            <a:off x="4407408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64608" y="3127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cope 41% better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64608" y="341985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students show 4.95 vs 8.39 depression — maturity and purpose are protective factors.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297680" y="4041648"/>
            <a:ext cx="4663440" cy="859536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4" name="Shape 52"/>
          <p:cNvSpPr/>
          <p:nvPr/>
        </p:nvSpPr>
        <p:spPr>
          <a:xfrm>
            <a:off x="4297680" y="4041648"/>
            <a:ext cx="54864" cy="8595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Shape 53"/>
          <p:cNvSpPr/>
          <p:nvPr/>
        </p:nvSpPr>
        <p:spPr>
          <a:xfrm>
            <a:off x="4407408" y="424281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Text 54"/>
          <p:cNvSpPr/>
          <p:nvPr/>
        </p:nvSpPr>
        <p:spPr>
          <a:xfrm>
            <a:off x="4407408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864608" y="40965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help is the last resort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64608" y="43891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(2.89/5) is least used. Students cope alone before seeking help — a system gap.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Text 58"/>
          <p:cNvSpPr/>
          <p:nvPr/>
        </p:nvSpPr>
        <p:spPr>
          <a:xfrm>
            <a:off x="457200" y="49926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SQL · MySQL · GROUP BY · HAVING · AVG() · COUNT() · JOIN · Subqueries  |  Dataset: Japanese University Survey (286 students)  |  Neel Shah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1550</Words>
  <Application>Microsoft Office PowerPoint</Application>
  <PresentationFormat>On-screen Show (16:9)</PresentationFormat>
  <Paragraphs>303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Students Mental Health — SQL Analysis</dc:title>
  <dc:subject>PptxGenJS Presentation</dc:subject>
  <dc:creator>PptxGenJS</dc:creator>
  <cp:lastModifiedBy>Neel Shah</cp:lastModifiedBy>
  <cp:revision>1</cp:revision>
  <dcterms:created xsi:type="dcterms:W3CDTF">2026-03-23T12:08:44Z</dcterms:created>
  <dcterms:modified xsi:type="dcterms:W3CDTF">2026-03-26T12:29:58Z</dcterms:modified>
</cp:coreProperties>
</file>