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22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l Shah" userId="c1fb45f165b7ba58" providerId="LiveId" clId="{DEB6E644-71B3-4902-BC97-AC64D14C8BEE}"/>
    <pc:docChg chg="modSld">
      <pc:chgData name="Neel Shah" userId="c1fb45f165b7ba58" providerId="LiveId" clId="{DEB6E644-71B3-4902-BC97-AC64D14C8BEE}" dt="2026-03-22T15:09:38.257" v="9" actId="14100"/>
      <pc:docMkLst>
        <pc:docMk/>
      </pc:docMkLst>
      <pc:sldChg chg="modSp mod">
        <pc:chgData name="Neel Shah" userId="c1fb45f165b7ba58" providerId="LiveId" clId="{DEB6E644-71B3-4902-BC97-AC64D14C8BEE}" dt="2026-03-22T15:01:35.401" v="2" actId="14100"/>
        <pc:sldMkLst>
          <pc:docMk/>
          <pc:sldMk cId="0" sldId="259"/>
        </pc:sldMkLst>
        <pc:spChg chg="mod">
          <ac:chgData name="Neel Shah" userId="c1fb45f165b7ba58" providerId="LiveId" clId="{DEB6E644-71B3-4902-BC97-AC64D14C8BEE}" dt="2026-03-22T15:01:28.580" v="0" actId="14100"/>
          <ac:spMkLst>
            <pc:docMk/>
            <pc:sldMk cId="0" sldId="259"/>
            <ac:spMk id="30" creationId="{00000000-0000-0000-0000-000000000000}"/>
          </ac:spMkLst>
        </pc:spChg>
        <pc:spChg chg="mod">
          <ac:chgData name="Neel Shah" userId="c1fb45f165b7ba58" providerId="LiveId" clId="{DEB6E644-71B3-4902-BC97-AC64D14C8BEE}" dt="2026-03-22T15:01:35.401" v="2" actId="14100"/>
          <ac:spMkLst>
            <pc:docMk/>
            <pc:sldMk cId="0" sldId="259"/>
            <ac:spMk id="31" creationId="{00000000-0000-0000-0000-000000000000}"/>
          </ac:spMkLst>
        </pc:spChg>
      </pc:sldChg>
      <pc:sldChg chg="modSp mod">
        <pc:chgData name="Neel Shah" userId="c1fb45f165b7ba58" providerId="LiveId" clId="{DEB6E644-71B3-4902-BC97-AC64D14C8BEE}" dt="2026-03-22T15:09:38.257" v="9" actId="14100"/>
        <pc:sldMkLst>
          <pc:docMk/>
          <pc:sldMk cId="0" sldId="261"/>
        </pc:sldMkLst>
        <pc:spChg chg="mod">
          <ac:chgData name="Neel Shah" userId="c1fb45f165b7ba58" providerId="LiveId" clId="{DEB6E644-71B3-4902-BC97-AC64D14C8BEE}" dt="2026-03-22T15:09:38.257" v="9" actId="14100"/>
          <ac:spMkLst>
            <pc:docMk/>
            <pc:sldMk cId="0" sldId="261"/>
            <ac:spMk id="7" creationId="{00000000-0000-0000-0000-000000000000}"/>
          </ac:spMkLst>
        </pc:spChg>
        <pc:spChg chg="mod">
          <ac:chgData name="Neel Shah" userId="c1fb45f165b7ba58" providerId="LiveId" clId="{DEB6E644-71B3-4902-BC97-AC64D14C8BEE}" dt="2026-03-22T15:08:52.882" v="4" actId="14100"/>
          <ac:spMkLst>
            <pc:docMk/>
            <pc:sldMk cId="0" sldId="261"/>
            <ac:spMk id="23" creationId="{00000000-0000-0000-0000-000000000000}"/>
          </ac:spMkLst>
        </pc:spChg>
      </pc:sldChg>
      <pc:sldChg chg="modSp mod">
        <pc:chgData name="Neel Shah" userId="c1fb45f165b7ba58" providerId="LiveId" clId="{DEB6E644-71B3-4902-BC97-AC64D14C8BEE}" dt="2026-03-22T15:09:28.901" v="8" actId="14100"/>
        <pc:sldMkLst>
          <pc:docMk/>
          <pc:sldMk cId="0" sldId="264"/>
        </pc:sldMkLst>
        <pc:spChg chg="mod">
          <ac:chgData name="Neel Shah" userId="c1fb45f165b7ba58" providerId="LiveId" clId="{DEB6E644-71B3-4902-BC97-AC64D14C8BEE}" dt="2026-03-22T15:09:28.901" v="8" actId="14100"/>
          <ac:spMkLst>
            <pc:docMk/>
            <pc:sldMk cId="0" sldId="264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520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1"/>
          <p:cNvSpPr/>
          <p:nvPr/>
        </p:nvSpPr>
        <p:spPr>
          <a:xfrm>
            <a:off x="0" y="868680"/>
            <a:ext cx="9144000" cy="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0" y="1280160"/>
            <a:ext cx="9144000" cy="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3"/>
          <p:cNvSpPr/>
          <p:nvPr/>
        </p:nvSpPr>
        <p:spPr>
          <a:xfrm>
            <a:off x="0" y="1691640"/>
            <a:ext cx="9144000" cy="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Shape 4"/>
          <p:cNvSpPr/>
          <p:nvPr/>
        </p:nvSpPr>
        <p:spPr>
          <a:xfrm>
            <a:off x="0" y="2103120"/>
            <a:ext cx="9144000" cy="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0" y="2514600"/>
            <a:ext cx="9144000" cy="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Shape 6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7"/>
          <p:cNvSpPr/>
          <p:nvPr/>
        </p:nvSpPr>
        <p:spPr>
          <a:xfrm>
            <a:off x="0" y="3337560"/>
            <a:ext cx="9144000" cy="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0" y="3749040"/>
            <a:ext cx="9144000" cy="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0" y="4160520"/>
            <a:ext cx="9144000" cy="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1"/>
          <p:cNvSpPr/>
          <p:nvPr/>
        </p:nvSpPr>
        <p:spPr>
          <a:xfrm>
            <a:off x="0" y="4983480"/>
            <a:ext cx="9144000" cy="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Shape 12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54864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4"/>
          <p:cNvSpPr/>
          <p:nvPr/>
        </p:nvSpPr>
        <p:spPr>
          <a:xfrm>
            <a:off x="109728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5"/>
          <p:cNvSpPr/>
          <p:nvPr/>
        </p:nvSpPr>
        <p:spPr>
          <a:xfrm>
            <a:off x="164592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6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Shape 18"/>
          <p:cNvSpPr/>
          <p:nvPr/>
        </p:nvSpPr>
        <p:spPr>
          <a:xfrm>
            <a:off x="329184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19"/>
          <p:cNvSpPr/>
          <p:nvPr/>
        </p:nvSpPr>
        <p:spPr>
          <a:xfrm>
            <a:off x="384048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0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Shape 21"/>
          <p:cNvSpPr/>
          <p:nvPr/>
        </p:nvSpPr>
        <p:spPr>
          <a:xfrm>
            <a:off x="493776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3"/>
          <p:cNvSpPr/>
          <p:nvPr/>
        </p:nvSpPr>
        <p:spPr>
          <a:xfrm>
            <a:off x="603504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4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5"/>
          <p:cNvSpPr/>
          <p:nvPr/>
        </p:nvSpPr>
        <p:spPr>
          <a:xfrm>
            <a:off x="713232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6"/>
          <p:cNvSpPr/>
          <p:nvPr/>
        </p:nvSpPr>
        <p:spPr>
          <a:xfrm>
            <a:off x="768096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Shape 27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508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8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111D4A">
              <a:alpha val="70000"/>
            </a:srgbClr>
          </a:solidFill>
          <a:ln w="12700">
            <a:solidFill>
              <a:srgbClr val="111D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 29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0"/>
          <p:cNvSpPr/>
          <p:nvPr/>
        </p:nvSpPr>
        <p:spPr>
          <a:xfrm>
            <a:off x="365760" y="365760"/>
            <a:ext cx="1645920" cy="292608"/>
          </a:xfrm>
          <a:prstGeom prst="rect">
            <a:avLst/>
          </a:prstGeom>
          <a:solidFill>
            <a:srgbClr val="1A2E6E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1"/>
          <p:cNvSpPr/>
          <p:nvPr/>
        </p:nvSpPr>
        <p:spPr>
          <a:xfrm>
            <a:off x="365760" y="3657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PROJECT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65760" y="8229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INDUSTRIAL</a:t>
            </a:r>
            <a:endParaRPr lang="en-US" sz="5200" dirty="0"/>
          </a:p>
        </p:txBody>
      </p:sp>
      <p:sp>
        <p:nvSpPr>
          <p:cNvPr id="36" name="Text 33"/>
          <p:cNvSpPr/>
          <p:nvPr/>
        </p:nvSpPr>
        <p:spPr>
          <a:xfrm>
            <a:off x="365760" y="146304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CARBON</a:t>
            </a:r>
            <a:endParaRPr lang="en-US" sz="5200" dirty="0"/>
          </a:p>
        </p:txBody>
      </p:sp>
      <p:sp>
        <p:nvSpPr>
          <p:cNvPr id="37" name="Text 34"/>
          <p:cNvSpPr/>
          <p:nvPr/>
        </p:nvSpPr>
        <p:spPr>
          <a:xfrm>
            <a:off x="365760" y="21031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EMISSIONS</a:t>
            </a:r>
            <a:endParaRPr lang="en-US" sz="5200" dirty="0"/>
          </a:p>
        </p:txBody>
      </p:sp>
      <p:sp>
        <p:nvSpPr>
          <p:cNvPr id="38" name="Text 35"/>
          <p:cNvSpPr/>
          <p:nvPr/>
        </p:nvSpPr>
        <p:spPr>
          <a:xfrm>
            <a:off x="365760" y="27889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ANALYSIS</a:t>
            </a:r>
            <a:endParaRPr lang="en-US" sz="2400" dirty="0"/>
          </a:p>
        </p:txBody>
      </p:sp>
      <p:sp>
        <p:nvSpPr>
          <p:cNvPr id="39" name="Text 36"/>
          <p:cNvSpPr/>
          <p:nvPr/>
        </p:nvSpPr>
        <p:spPr>
          <a:xfrm>
            <a:off x="365760" y="33101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SQL queries · 135,408 rows · 14 countries · 6 sectors · 2019–2023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943600" y="54864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SKILLS IN THIS PROJECT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5943600" y="896112"/>
            <a:ext cx="1417320" cy="502920"/>
          </a:xfrm>
          <a:prstGeom prst="rect">
            <a:avLst/>
          </a:prstGeom>
          <a:solidFill>
            <a:srgbClr val="1620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39"/>
          <p:cNvSpPr/>
          <p:nvPr/>
        </p:nvSpPr>
        <p:spPr>
          <a:xfrm>
            <a:off x="5943600" y="8961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5943600" y="1563624"/>
            <a:ext cx="1417320" cy="502920"/>
          </a:xfrm>
          <a:prstGeom prst="rect">
            <a:avLst/>
          </a:prstGeom>
          <a:solidFill>
            <a:srgbClr val="1620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41"/>
          <p:cNvSpPr/>
          <p:nvPr/>
        </p:nvSpPr>
        <p:spPr>
          <a:xfrm>
            <a:off x="5943600" y="156362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5943600" y="2231136"/>
            <a:ext cx="1417320" cy="502920"/>
          </a:xfrm>
          <a:prstGeom prst="rect">
            <a:avLst/>
          </a:prstGeom>
          <a:solidFill>
            <a:srgbClr val="1620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43"/>
          <p:cNvSpPr/>
          <p:nvPr/>
        </p:nvSpPr>
        <p:spPr>
          <a:xfrm>
            <a:off x="5943600" y="223113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/ HAVING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5943600" y="2898648"/>
            <a:ext cx="1417320" cy="502920"/>
          </a:xfrm>
          <a:prstGeom prst="rect">
            <a:avLst/>
          </a:prstGeom>
          <a:solidFill>
            <a:srgbClr val="1620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45"/>
          <p:cNvSpPr/>
          <p:nvPr/>
        </p:nvSpPr>
        <p:spPr>
          <a:xfrm>
            <a:off x="5943600" y="28986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WHEN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943600" y="3566160"/>
            <a:ext cx="1417320" cy="502920"/>
          </a:xfrm>
          <a:prstGeom prst="rect">
            <a:avLst/>
          </a:prstGeom>
          <a:solidFill>
            <a:srgbClr val="1620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Text 47"/>
          <p:cNvSpPr/>
          <p:nvPr/>
        </p:nvSpPr>
        <p:spPr>
          <a:xfrm>
            <a:off x="5943600" y="3566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Subqueries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7498080" y="896112"/>
            <a:ext cx="1417320" cy="502920"/>
          </a:xfrm>
          <a:prstGeom prst="rect">
            <a:avLst/>
          </a:prstGeom>
          <a:solidFill>
            <a:srgbClr val="1620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Text 49"/>
          <p:cNvSpPr/>
          <p:nvPr/>
        </p:nvSpPr>
        <p:spPr>
          <a:xfrm>
            <a:off x="7498080" y="89611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CTEs (WITH)</a:t>
            </a:r>
            <a:endParaRPr lang="en-US" sz="900" dirty="0"/>
          </a:p>
        </p:txBody>
      </p:sp>
      <p:sp>
        <p:nvSpPr>
          <p:cNvPr id="53" name="Shape 50"/>
          <p:cNvSpPr/>
          <p:nvPr/>
        </p:nvSpPr>
        <p:spPr>
          <a:xfrm>
            <a:off x="7498080" y="1563624"/>
            <a:ext cx="1417320" cy="502920"/>
          </a:xfrm>
          <a:prstGeom prst="rect">
            <a:avLst/>
          </a:prstGeom>
          <a:solidFill>
            <a:srgbClr val="1620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ext 51"/>
          <p:cNvSpPr/>
          <p:nvPr/>
        </p:nvSpPr>
        <p:spPr>
          <a:xfrm>
            <a:off x="7498080" y="156362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 Window Fn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7498080" y="2231136"/>
            <a:ext cx="1417320" cy="502920"/>
          </a:xfrm>
          <a:prstGeom prst="rect">
            <a:avLst/>
          </a:prstGeom>
          <a:solidFill>
            <a:srgbClr val="1620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Text 53"/>
          <p:cNvSpPr/>
          <p:nvPr/>
        </p:nvSpPr>
        <p:spPr>
          <a:xfrm>
            <a:off x="7498080" y="223113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 OVER()</a:t>
            </a:r>
            <a:endParaRPr lang="en-US" sz="900" dirty="0"/>
          </a:p>
        </p:txBody>
      </p:sp>
      <p:sp>
        <p:nvSpPr>
          <p:cNvPr id="57" name="Shape 54"/>
          <p:cNvSpPr/>
          <p:nvPr/>
        </p:nvSpPr>
        <p:spPr>
          <a:xfrm>
            <a:off x="7498080" y="2898648"/>
            <a:ext cx="1417320" cy="502920"/>
          </a:xfrm>
          <a:prstGeom prst="rect">
            <a:avLst/>
          </a:prstGeom>
          <a:solidFill>
            <a:srgbClr val="1620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Text 55"/>
          <p:cNvSpPr/>
          <p:nvPr/>
        </p:nvSpPr>
        <p:spPr>
          <a:xfrm>
            <a:off x="7498080" y="28986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Aggregate Funcs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7498080" y="3566160"/>
            <a:ext cx="1417320" cy="502920"/>
          </a:xfrm>
          <a:prstGeom prst="rect">
            <a:avLst/>
          </a:prstGeom>
          <a:solidFill>
            <a:srgbClr val="162052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Text 57"/>
          <p:cNvSpPr/>
          <p:nvPr/>
        </p:nvSpPr>
        <p:spPr>
          <a:xfrm>
            <a:off x="7498080" y="35661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Text 59"/>
          <p:cNvSpPr/>
          <p:nvPr/>
        </p:nvSpPr>
        <p:spPr>
          <a:xfrm>
            <a:off x="365760" y="47823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Global CO₂ Emissions (Kaggle)  |  Tool: PostgreSQL  |  Focus: Beginner → Intermediate SQL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D4A"/>
          </a:solidFill>
          <a:ln w="12700">
            <a:solidFill>
              <a:srgbClr val="111D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1 — DATABASE SETUP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1089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Schema Design &amp; Data Loading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· COPY · UPDATE — building the foundation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02920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8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50292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29768" y="1088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0" y="1143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157216" y="1143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285232" y="1143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4632" y="139903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Create the emissions table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164134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 (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188366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 PRIMARY KEY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1259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country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(50)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36829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  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61061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sector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(50)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8529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 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(12,6)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952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  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33756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month 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57987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82219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06450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Load data from CSV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430682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FROM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'/path/dataset.csv'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54914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DELIMITER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','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CSV HEADER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79145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" y="503377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Populate year &amp; month columns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" y="527608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" y="551840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  =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 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date),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" y="576072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month =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 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date);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577840" y="10515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this sets up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577840" y="1444752"/>
            <a:ext cx="3291840" cy="859536"/>
          </a:xfrm>
          <a:prstGeom prst="rect">
            <a:avLst/>
          </a:prstGeom>
          <a:solidFill>
            <a:srgbClr val="162052"/>
          </a:solidFill>
          <a:ln w="10160">
            <a:solidFill>
              <a:srgbClr val="1E3A8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4" name="Shape 32"/>
          <p:cNvSpPr/>
          <p:nvPr/>
        </p:nvSpPr>
        <p:spPr>
          <a:xfrm>
            <a:off x="5577840" y="1444752"/>
            <a:ext cx="457200" cy="859536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5577840" y="1444752"/>
            <a:ext cx="457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44768" y="15179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TABLE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44768" y="177393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columns with correct data types — VARCHAR for text, DECIMAL for emissions values, INT for year/month.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77840" y="2414016"/>
            <a:ext cx="3291840" cy="859536"/>
          </a:xfrm>
          <a:prstGeom prst="rect">
            <a:avLst/>
          </a:prstGeom>
          <a:solidFill>
            <a:srgbClr val="162052"/>
          </a:solidFill>
          <a:ln w="10160">
            <a:solidFill>
              <a:srgbClr val="1E3A8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9" name="Shape 37"/>
          <p:cNvSpPr/>
          <p:nvPr/>
        </p:nvSpPr>
        <p:spPr>
          <a:xfrm>
            <a:off x="5577840" y="2414016"/>
            <a:ext cx="457200" cy="859536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5577840" y="2414016"/>
            <a:ext cx="457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144768" y="24871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 command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44768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Bulk-loads 135,408 rows from the CSV file directly into PostgreSQL — far faster than INSERT loops.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577840" y="3383280"/>
            <a:ext cx="3291840" cy="859536"/>
          </a:xfrm>
          <a:prstGeom prst="rect">
            <a:avLst/>
          </a:prstGeom>
          <a:solidFill>
            <a:srgbClr val="162052"/>
          </a:solidFill>
          <a:ln w="10160">
            <a:solidFill>
              <a:srgbClr val="1E3A8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4" name="Shape 42"/>
          <p:cNvSpPr/>
          <p:nvPr/>
        </p:nvSpPr>
        <p:spPr>
          <a:xfrm>
            <a:off x="5577840" y="3383280"/>
            <a:ext cx="457200" cy="859536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5577840" y="3383280"/>
            <a:ext cx="4572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44768" y="34564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UPDATE derived cols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44768" y="37124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year and month from the date column so later queries can GROUP BY year without repeating EXTRACT().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D4A"/>
          </a:solidFill>
          <a:ln w="12700">
            <a:solidFill>
              <a:srgbClr val="111D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1 — TOP POLLUTING SECTORS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1089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sectors by CO₂ emissions in 2023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GROUP BY · SUM() · Subquery for % share · ORDER BY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02920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8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50292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29768" y="1088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0" y="1143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157216" y="1143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285232" y="1143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4632" y="139903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Top sectors with % of global total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164134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188366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sector,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1259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(value)::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total_mt,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36829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61061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*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8529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952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=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33756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pct_of_global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57987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82219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=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06450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430682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total_mt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3212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Results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1389888"/>
            <a:ext cx="3383280" cy="274320"/>
          </a:xfrm>
          <a:prstGeom prst="rect">
            <a:avLst/>
          </a:prstGeom>
          <a:solidFill>
            <a:srgbClr val="1A2E6E"/>
          </a:solidFill>
          <a:ln w="1270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5577840" y="140817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223760" y="140817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 CO₂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955280" y="14081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8FA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32120" y="1691640"/>
            <a:ext cx="3383280" cy="384048"/>
          </a:xfrm>
          <a:prstGeom prst="rect">
            <a:avLst/>
          </a:prstGeom>
          <a:solidFill>
            <a:srgbClr val="162052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5532120" y="1691640"/>
            <a:ext cx="64008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5650992" y="17556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178040" y="17556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11,591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73568" y="17556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37.6%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532120" y="2112264"/>
            <a:ext cx="3383280" cy="384048"/>
          </a:xfrm>
          <a:prstGeom prst="rect">
            <a:avLst/>
          </a:prstGeom>
          <a:solidFill>
            <a:srgbClr val="0F1A40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5532120" y="2112264"/>
            <a:ext cx="64008" cy="384048"/>
          </a:xfrm>
          <a:prstGeom prst="rect">
            <a:avLst/>
          </a:prstGeom>
          <a:solidFill>
            <a:srgbClr val="E88A2A"/>
          </a:solidFill>
          <a:ln w="12700">
            <a:solidFill>
              <a:srgbClr val="E88A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5650992" y="2176272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178040" y="21762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8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9,263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973568" y="21762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E88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30.0%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32120" y="2532888"/>
            <a:ext cx="3383280" cy="384048"/>
          </a:xfrm>
          <a:prstGeom prst="rect">
            <a:avLst/>
          </a:prstGeom>
          <a:solidFill>
            <a:srgbClr val="162052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5532120" y="2532888"/>
            <a:ext cx="64008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5650992" y="2596896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Transport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178040" y="25968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5,732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973568" y="25968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18.6%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32120" y="2953512"/>
            <a:ext cx="3383280" cy="384048"/>
          </a:xfrm>
          <a:prstGeom prst="rect">
            <a:avLst/>
          </a:prstGeom>
          <a:solidFill>
            <a:srgbClr val="0F1A40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Shape 45"/>
          <p:cNvSpPr/>
          <p:nvPr/>
        </p:nvSpPr>
        <p:spPr>
          <a:xfrm>
            <a:off x="5532120" y="2953512"/>
            <a:ext cx="64008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46"/>
          <p:cNvSpPr/>
          <p:nvPr/>
        </p:nvSpPr>
        <p:spPr>
          <a:xfrm>
            <a:off x="5650992" y="3017520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178040" y="30175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3,702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7973568" y="30175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532120" y="3374136"/>
            <a:ext cx="3383280" cy="384048"/>
          </a:xfrm>
          <a:prstGeom prst="rect">
            <a:avLst/>
          </a:prstGeom>
          <a:solidFill>
            <a:srgbClr val="162052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Shape 50"/>
          <p:cNvSpPr/>
          <p:nvPr/>
        </p:nvSpPr>
        <p:spPr>
          <a:xfrm>
            <a:off x="5532120" y="3374136"/>
            <a:ext cx="64008" cy="38404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Text 51"/>
          <p:cNvSpPr/>
          <p:nvPr/>
        </p:nvSpPr>
        <p:spPr>
          <a:xfrm>
            <a:off x="5650992" y="3438144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178040" y="34381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769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7973568" y="34381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2.5%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532120" y="3822192"/>
            <a:ext cx="3383280" cy="822960"/>
          </a:xfrm>
          <a:prstGeom prst="rect">
            <a:avLst/>
          </a:prstGeom>
          <a:solidFill>
            <a:srgbClr val="162052"/>
          </a:solidFill>
          <a:ln w="1524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7" name="Shape 55"/>
          <p:cNvSpPr/>
          <p:nvPr/>
        </p:nvSpPr>
        <p:spPr>
          <a:xfrm>
            <a:off x="5532120" y="3822192"/>
            <a:ext cx="54864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Text 56"/>
          <p:cNvSpPr/>
          <p:nvPr/>
        </p:nvSpPr>
        <p:spPr>
          <a:xfrm>
            <a:off x="5696712" y="391363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Key Insight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696712" y="41879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+ Industry = 67.6% of all emissions. These two sectors are the #1 lever for climate policy.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D4A"/>
          </a:solidFill>
          <a:ln w="12700">
            <a:solidFill>
              <a:srgbClr val="111D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2 — COUNTRY RANKINGS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1089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countries ranked — HAVING filters groups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GROUP BY · ORDER BY · WHERE · HAVING clause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029200" cy="237744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8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50292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29768" y="1088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0" y="1143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157216" y="1143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285232" y="1143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4632" y="139903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All countries ranked by emissions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164134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188366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(value)::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1259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36829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61061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'ROW'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8529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952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total_mt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33756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57987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HAVING: only show major emitters (&gt;500 Mt)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82219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HAVING filters AFTER GROUP BY (unlike WHERE)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06450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&gt;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520440"/>
            <a:ext cx="5029200" cy="658368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475488" y="356616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WHERE vs HAVING — the key difference: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5488" y="3776472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filters rows BEFORE grouping.   HAVING filters groups AFTER aggregation.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32120" y="1051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emitters 2023 (Mt CO₂)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32120" y="1508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601968" y="1490472"/>
            <a:ext cx="1847088" cy="2743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8513064" y="1508760"/>
            <a:ext cx="5409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4,612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32120" y="19842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601968" y="1965960"/>
            <a:ext cx="1179576" cy="274320"/>
          </a:xfrm>
          <a:prstGeom prst="rect">
            <a:avLst/>
          </a:prstGeom>
          <a:solidFill>
            <a:srgbClr val="E88A2A"/>
          </a:solidFill>
          <a:ln w="12700">
            <a:solidFill>
              <a:srgbClr val="E88A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7808976" y="19842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8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1,992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32120" y="24597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EU27+UK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601968" y="2441448"/>
            <a:ext cx="795528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7424928" y="24597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1,361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532120" y="29352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601968" y="2916936"/>
            <a:ext cx="713232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7342632" y="293522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1,221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32120" y="3410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01968" y="3392424"/>
            <a:ext cx="493776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7123176" y="341071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830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32120" y="3886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601968" y="3867912"/>
            <a:ext cx="246888" cy="2743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44"/>
          <p:cNvSpPr/>
          <p:nvPr/>
        </p:nvSpPr>
        <p:spPr>
          <a:xfrm>
            <a:off x="6876288" y="38862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437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532120" y="4361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601968" y="4343400"/>
            <a:ext cx="164592" cy="27432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6793992" y="43616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32120" y="3822192"/>
            <a:ext cx="3383280" cy="822960"/>
          </a:xfrm>
          <a:prstGeom prst="rect">
            <a:avLst/>
          </a:prstGeom>
          <a:solidFill>
            <a:srgbClr val="162052"/>
          </a:solidFill>
          <a:ln w="1524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1" name="Shape 49"/>
          <p:cNvSpPr/>
          <p:nvPr/>
        </p:nvSpPr>
        <p:spPr>
          <a:xfrm>
            <a:off x="5532120" y="3822192"/>
            <a:ext cx="54864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Text 50"/>
          <p:cNvSpPr/>
          <p:nvPr/>
        </p:nvSpPr>
        <p:spPr>
          <a:xfrm>
            <a:off x="5696712" y="391363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🌏 Key Insight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5696712" y="4187952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(4,612 Mt) emits more than the US + EU27 + India combined (4,576 Mt).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D4A"/>
          </a:solidFill>
          <a:ln w="12700">
            <a:solidFill>
              <a:srgbClr val="111D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3 — YEAR-ON-YEAR TRENDS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1089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did emissions change each year? The COVID story in SQL.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GROUP BY year · CASE WHEN · Self-join subquery for % change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029200" cy="25146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8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50292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29768" y="1088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0" y="1143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157216" y="1143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285232" y="1143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4632" y="139903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CASE WHEN adds context labels to results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164134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188366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year,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1259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(value)::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total_mt,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36829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61061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THEN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'COVID lockdown year'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8529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2021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THEN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'Post-COVID rebound'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952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THEN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'New all-time high'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33756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'Baseline'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57987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82219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06450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=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430682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ORDER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532120" y="1051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 + Story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1417320"/>
            <a:ext cx="3383280" cy="621792"/>
          </a:xfrm>
          <a:prstGeom prst="rect">
            <a:avLst/>
          </a:prstGeom>
          <a:solidFill>
            <a:srgbClr val="162052"/>
          </a:solidFill>
          <a:ln w="1016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5532120" y="1417320"/>
            <a:ext cx="502920" cy="621792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5532120" y="1417320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2019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126480" y="14721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35,344 Mt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126480" y="17465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532120" y="2130552"/>
            <a:ext cx="3383280" cy="621792"/>
          </a:xfrm>
          <a:prstGeom prst="rect">
            <a:avLst/>
          </a:prstGeom>
          <a:solidFill>
            <a:srgbClr val="162052"/>
          </a:solidFill>
          <a:ln w="1016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5532120" y="2130552"/>
            <a:ext cx="502920" cy="621792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5532120" y="2130552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2020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126480" y="21854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33,454 Mt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26480" y="2459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lockdown year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22768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−5.4%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532120" y="2843784"/>
            <a:ext cx="3383280" cy="621792"/>
          </a:xfrm>
          <a:prstGeom prst="rect">
            <a:avLst/>
          </a:prstGeom>
          <a:solidFill>
            <a:srgbClr val="162052"/>
          </a:solidFill>
          <a:ln w="1016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Shape 37"/>
          <p:cNvSpPr/>
          <p:nvPr/>
        </p:nvSpPr>
        <p:spPr>
          <a:xfrm>
            <a:off x="5532120" y="2843784"/>
            <a:ext cx="502920" cy="62179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5532120" y="2843784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2021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26480" y="2898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35,508 Mt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26480" y="3172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Post-COVID rebound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2990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+6.2%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532120" y="3557016"/>
            <a:ext cx="3383280" cy="621792"/>
          </a:xfrm>
          <a:prstGeom prst="rect">
            <a:avLst/>
          </a:prstGeom>
          <a:solidFill>
            <a:srgbClr val="162052"/>
          </a:solidFill>
          <a:ln w="1016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Shape 43"/>
          <p:cNvSpPr/>
          <p:nvPr/>
        </p:nvSpPr>
        <p:spPr>
          <a:xfrm>
            <a:off x="5532120" y="3557016"/>
            <a:ext cx="502920" cy="621792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44"/>
          <p:cNvSpPr/>
          <p:nvPr/>
        </p:nvSpPr>
        <p:spPr>
          <a:xfrm>
            <a:off x="5532120" y="3557016"/>
            <a:ext cx="502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26480" y="36118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36,119 Mt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126480" y="38862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all-time high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772400" y="3703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+1.7%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D4A"/>
          </a:solidFill>
          <a:ln w="12700">
            <a:solidFill>
              <a:srgbClr val="111D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4 — CTEs (WITH CLAUSE)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1089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China vs US vs India — who is growing fastest?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WITH clause · Multiple CTEs · JOIN · % change calculation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773168" cy="501396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8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50292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29768" y="1088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0" y="1143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157216" y="1143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285232" y="1143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4632" y="139903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CTE 1: group by country and year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164134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big3_by_year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188366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country, year,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1259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36829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'China'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'US'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'India'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61061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country, year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8529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952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CTE 2: pin the 2019 baseline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33756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57987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country, total_mt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base_2019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822192"/>
            <a:ext cx="477316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big3_by_year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06450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430682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Final: join &amp; calculate % change vs 2019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54914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b.country, b.year,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79145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((b.total_mt - bl.base_2019)*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/bl.base_2019,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pct_vs_2019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" y="503377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big3_by_year b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 bl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b.country=bl.country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" y="527608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b.country, b.year;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32120" y="1051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2022 vs 2019 — who grew?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32120" y="1417320"/>
            <a:ext cx="3383280" cy="1051560"/>
          </a:xfrm>
          <a:prstGeom prst="rect">
            <a:avLst/>
          </a:prstGeom>
          <a:solidFill>
            <a:srgbClr val="162052"/>
          </a:solidFill>
          <a:ln w="1524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5669280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🇨🇳 China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69280" y="1828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11,077 Mt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669280" y="21945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498080" y="180136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+5.6%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5532120" y="2587752"/>
            <a:ext cx="3383280" cy="1051560"/>
          </a:xfrm>
          <a:prstGeom prst="rect">
            <a:avLst/>
          </a:prstGeom>
          <a:solidFill>
            <a:srgbClr val="162052"/>
          </a:solidFill>
          <a:ln w="1524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5669280" y="2679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🇮🇳 India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69280" y="2999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2,663 Mt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669280" y="3364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498080" y="297180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+7.7%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5532120" y="3758184"/>
            <a:ext cx="3383280" cy="1051560"/>
          </a:xfrm>
          <a:prstGeom prst="rect">
            <a:avLst/>
          </a:prstGeom>
          <a:solidFill>
            <a:srgbClr val="162052"/>
          </a:solidFill>
          <a:ln w="15240">
            <a:solidFill>
              <a:srgbClr val="10B981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5669280" y="3849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🇺🇸 USA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669280" y="41696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5,048 Mt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5669280" y="45354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declining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498080" y="41422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−1.2%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D4A"/>
          </a:solidFill>
          <a:ln w="12700">
            <a:solidFill>
              <a:srgbClr val="111D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5 — WINDOW FUNCTIONS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1089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sector ranking with RANK() — the most impressive SQL skill.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RANK() OVER · SUM() OVER() · CTE · Window function partitioning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029200" cy="292608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8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50292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29768" y="1088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0" y="1143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157216" y="1143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285232" y="1143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4632" y="139903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RANK() assigns a position to each row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164134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SUM() OVER() calculates running group totals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188366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power_2023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1259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country,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36829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61061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 =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'Power'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8529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AND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'ROW'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952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33756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57987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82219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total_mt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06450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country,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430682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(total_mt::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power_mt,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54914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(total_mt*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(total_mt)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(),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79145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power_2023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total_mt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4041648"/>
            <a:ext cx="5029200" cy="713232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475488" y="40965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RANK() is powerful for recruiters: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5488" y="4297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RANK() OVER (ORDER BY ...) adds a rank number to each row without collapsing the data — unlike GROUP BY which reduces rows. This is an advanced SQL concept that shows you understand how window functions work alongside regular queries.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32120" y="1051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sector ranking 2023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32120" y="1389888"/>
            <a:ext cx="3383280" cy="365760"/>
          </a:xfrm>
          <a:prstGeom prst="rect">
            <a:avLst/>
          </a:prstGeom>
          <a:solidFill>
            <a:srgbClr val="162052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5532120" y="1389888"/>
            <a:ext cx="384048" cy="365760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5532120" y="138988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145389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360920" y="145389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2,105 Mt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138160" y="145389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45.1%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32120" y="1792224"/>
            <a:ext cx="3383280" cy="365760"/>
          </a:xfrm>
          <a:prstGeom prst="rect">
            <a:avLst/>
          </a:prstGeom>
          <a:solidFill>
            <a:srgbClr val="0F1A40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Shape 37"/>
          <p:cNvSpPr/>
          <p:nvPr/>
        </p:nvSpPr>
        <p:spPr>
          <a:xfrm>
            <a:off x="5532120" y="1792224"/>
            <a:ext cx="384048" cy="365760"/>
          </a:xfrm>
          <a:prstGeom prst="rect">
            <a:avLst/>
          </a:prstGeom>
          <a:solidFill>
            <a:srgbClr val="F59E0B">
              <a:alpha val="7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5532120" y="179222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989320" y="18562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360920" y="185623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659 Mt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38160" y="185623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14.1%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32120" y="2194560"/>
            <a:ext cx="3383280" cy="365760"/>
          </a:xfrm>
          <a:prstGeom prst="rect">
            <a:avLst/>
          </a:prstGeom>
          <a:solidFill>
            <a:srgbClr val="162052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Shape 43"/>
          <p:cNvSpPr/>
          <p:nvPr/>
        </p:nvSpPr>
        <p:spPr>
          <a:xfrm>
            <a:off x="5532120" y="2194560"/>
            <a:ext cx="384048" cy="365760"/>
          </a:xfrm>
          <a:prstGeom prst="rect">
            <a:avLst/>
          </a:prstGeom>
          <a:solidFill>
            <a:srgbClr val="E88A2A">
              <a:alpha val="70000"/>
            </a:srgbClr>
          </a:solidFill>
          <a:ln w="12700">
            <a:solidFill>
              <a:srgbClr val="E88A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44"/>
          <p:cNvSpPr/>
          <p:nvPr/>
        </p:nvSpPr>
        <p:spPr>
          <a:xfrm>
            <a:off x="5532120" y="219456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8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989320" y="22585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7360920" y="22585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8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572 Mt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138160" y="225856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12.2%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32120" y="2596896"/>
            <a:ext cx="3383280" cy="365760"/>
          </a:xfrm>
          <a:prstGeom prst="rect">
            <a:avLst/>
          </a:prstGeom>
          <a:solidFill>
            <a:srgbClr val="0F1A40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Shape 49"/>
          <p:cNvSpPr/>
          <p:nvPr/>
        </p:nvSpPr>
        <p:spPr>
          <a:xfrm>
            <a:off x="5532120" y="2596896"/>
            <a:ext cx="384048" cy="365760"/>
          </a:xfrm>
          <a:prstGeom prst="rect">
            <a:avLst/>
          </a:prstGeom>
          <a:solidFill>
            <a:srgbClr val="06B6D4">
              <a:alpha val="70000"/>
            </a:srgbClr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Text 50"/>
          <p:cNvSpPr/>
          <p:nvPr/>
        </p:nvSpPr>
        <p:spPr>
          <a:xfrm>
            <a:off x="5532120" y="259689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989320" y="26609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360920" y="2660904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517 Mt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138160" y="2660904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11.1%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532120" y="2999232"/>
            <a:ext cx="3383280" cy="365760"/>
          </a:xfrm>
          <a:prstGeom prst="rect">
            <a:avLst/>
          </a:prstGeom>
          <a:solidFill>
            <a:srgbClr val="162052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Shape 55"/>
          <p:cNvSpPr/>
          <p:nvPr/>
        </p:nvSpPr>
        <p:spPr>
          <a:xfrm>
            <a:off x="5532120" y="2999232"/>
            <a:ext cx="384048" cy="365760"/>
          </a:xfrm>
          <a:prstGeom prst="rect">
            <a:avLst/>
          </a:prstGeom>
          <a:solidFill>
            <a:srgbClr val="A78BFA">
              <a:alpha val="70000"/>
            </a:srgbClr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Text 56"/>
          <p:cNvSpPr/>
          <p:nvPr/>
        </p:nvSpPr>
        <p:spPr>
          <a:xfrm>
            <a:off x="5532120" y="29992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989320" y="306324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EU27+UK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7360920" y="3063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311 Mt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138160" y="306324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6.7%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532120" y="3401568"/>
            <a:ext cx="3383280" cy="365760"/>
          </a:xfrm>
          <a:prstGeom prst="rect">
            <a:avLst/>
          </a:prstGeom>
          <a:solidFill>
            <a:srgbClr val="0F1A40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Shape 61"/>
          <p:cNvSpPr/>
          <p:nvPr/>
        </p:nvSpPr>
        <p:spPr>
          <a:xfrm>
            <a:off x="5532120" y="3401568"/>
            <a:ext cx="384048" cy="365760"/>
          </a:xfrm>
          <a:prstGeom prst="rect">
            <a:avLst/>
          </a:prstGeom>
          <a:solidFill>
            <a:srgbClr val="10B981">
              <a:alpha val="70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4" name="Text 62"/>
          <p:cNvSpPr/>
          <p:nvPr/>
        </p:nvSpPr>
        <p:spPr>
          <a:xfrm>
            <a:off x="5532120" y="340156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989320" y="3465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360920" y="34655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192 Mt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138160" y="3465576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4.1%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532120" y="3803904"/>
            <a:ext cx="3383280" cy="365760"/>
          </a:xfrm>
          <a:prstGeom prst="rect">
            <a:avLst/>
          </a:prstGeom>
          <a:solidFill>
            <a:srgbClr val="162052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9" name="Shape 67"/>
          <p:cNvSpPr/>
          <p:nvPr/>
        </p:nvSpPr>
        <p:spPr>
          <a:xfrm>
            <a:off x="5532120" y="3803904"/>
            <a:ext cx="384048" cy="365760"/>
          </a:xfrm>
          <a:prstGeom prst="rect">
            <a:avLst/>
          </a:prstGeom>
          <a:solidFill>
            <a:srgbClr val="94A3B8">
              <a:alpha val="70000"/>
            </a:srgbClr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0" name="Text 68"/>
          <p:cNvSpPr/>
          <p:nvPr/>
        </p:nvSpPr>
        <p:spPr>
          <a:xfrm>
            <a:off x="5532120" y="380390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#7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5989320" y="38679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7360920" y="386791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89 Mt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138160" y="3867912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1.9%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532120" y="4261104"/>
            <a:ext cx="3383280" cy="594360"/>
          </a:xfrm>
          <a:prstGeom prst="rect">
            <a:avLst/>
          </a:prstGeom>
          <a:solidFill>
            <a:srgbClr val="162052"/>
          </a:solidFill>
          <a:ln w="1524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5" name="Shape 73"/>
          <p:cNvSpPr/>
          <p:nvPr/>
        </p:nvSpPr>
        <p:spPr>
          <a:xfrm>
            <a:off x="5532120" y="4261104"/>
            <a:ext cx="54864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6" name="Text 74"/>
          <p:cNvSpPr/>
          <p:nvPr/>
        </p:nvSpPr>
        <p:spPr>
          <a:xfrm>
            <a:off x="5696712" y="4352544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Insight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696712" y="4626864"/>
            <a:ext cx="31272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(#2) overtook the US (#3) in power emissions in 2023 — a major geopolitical shift.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D4A"/>
          </a:solidFill>
          <a:ln w="12700">
            <a:solidFill>
              <a:srgbClr val="111D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6 — CASE WHEN BUCKETING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1089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 every country into emission tiers.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CASE WHEN · GROUP BY · ORDER BY · Conditional logic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02920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8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50292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29768" y="1088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0" y="1143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157216" y="1143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285232" y="1143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4632" y="139903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CASE WHEN creates custom categories from data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164134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188366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country,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1259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(value)::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total_mt,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36829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61061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&gt;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10000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THEN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'🔴 Mega emitter'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8529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&gt;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5000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THEN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'🟠 Major emitter'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952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&gt;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2000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THEN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'🟡 Significant'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33756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WHEN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&gt;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THEN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'🟢 Moderate'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57987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'⚪ Small emitter'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82219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emission_tier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06450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430682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IN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'ROW'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54914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ORDER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total_mt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532120" y="1051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Country tier classification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532120" y="1417320"/>
            <a:ext cx="3383280" cy="594360"/>
          </a:xfrm>
          <a:prstGeom prst="rect">
            <a:avLst/>
          </a:prstGeom>
          <a:solidFill>
            <a:srgbClr val="162052"/>
          </a:solidFill>
          <a:ln w="1016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5650992" y="1472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Mega emitter  &gt; 10,000 Mt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50992" y="17190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532120" y="2103120"/>
            <a:ext cx="3383280" cy="594360"/>
          </a:xfrm>
          <a:prstGeom prst="rect">
            <a:avLst/>
          </a:prstGeom>
          <a:solidFill>
            <a:srgbClr val="162052"/>
          </a:solidFill>
          <a:ln w="10160">
            <a:solidFill>
              <a:srgbClr val="E88A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5650992" y="21579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8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Major emitter &gt; 5,000 Mt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50992" y="24048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32120" y="2788920"/>
            <a:ext cx="3383280" cy="594360"/>
          </a:xfrm>
          <a:prstGeom prst="rect">
            <a:avLst/>
          </a:prstGeom>
          <a:solidFill>
            <a:srgbClr val="162052"/>
          </a:solidFill>
          <a:ln w="1016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5650992" y="28437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Significant   &gt; 2,000 Mt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50992" y="30906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EU27+UK · India · Russia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32120" y="3474720"/>
            <a:ext cx="3383280" cy="594360"/>
          </a:xfrm>
          <a:prstGeom prst="rect">
            <a:avLst/>
          </a:prstGeom>
          <a:solidFill>
            <a:srgbClr val="162052"/>
          </a:solidFill>
          <a:ln w="1016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5650992" y="35295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Moderate      &gt; 500 Mt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650992" y="37764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· Germany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32120" y="4160520"/>
            <a:ext cx="3383280" cy="594360"/>
          </a:xfrm>
          <a:prstGeom prst="rect">
            <a:avLst/>
          </a:prstGeom>
          <a:solidFill>
            <a:srgbClr val="162052"/>
          </a:solidFill>
          <a:ln w="1016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5650992" y="42153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⚪ Small emitter  ≤ 500 Mt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50992" y="44622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· Brazil · France · Italy · Spain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D4A"/>
          </a:solidFill>
          <a:ln w="12700">
            <a:solidFill>
              <a:srgbClr val="111D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7 — RUNNING TOTALS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1089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Cumulative emissions with SUM() OVER() — advanced window functions.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SUM() OVER · PARTITION BY · ROWS BETWEEN UNBOUNDED · CTEs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4928616" cy="4535424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8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50292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29768" y="1088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0" y="1143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157216" y="1143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285232" y="1143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4632" y="139903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monthly_world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164134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year, month,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188366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(value)::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monthly_total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1259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36829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=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61061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year, month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8529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952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year, month, monthly_total,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33756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Resets each year (PARTITION BY year)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57987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(monthly_total)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82219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PARTITION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ORDER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06450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BETWEEN UNBOUNDED PRECEDING AND CURRENT ROW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430682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cumulative_within_year,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54914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All-time running total (no partition)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79145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(monthly_total)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year, month)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" y="503377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all_time_running_total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" y="527608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monthly_world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ORDER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year, month;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32120" y="1051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is impressive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532120" y="1417320"/>
            <a:ext cx="3383280" cy="777240"/>
          </a:xfrm>
          <a:prstGeom prst="rect">
            <a:avLst/>
          </a:prstGeom>
          <a:solidFill>
            <a:srgbClr val="162052"/>
          </a:solidFill>
          <a:ln w="1016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5669280" y="14904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 BY year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0" y="1764792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the running total at the start of each year — like subtotals per group.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32120" y="2304288"/>
            <a:ext cx="3383280" cy="777240"/>
          </a:xfrm>
          <a:prstGeom prst="rect">
            <a:avLst/>
          </a:prstGeom>
          <a:solidFill>
            <a:srgbClr val="162052"/>
          </a:solidFill>
          <a:ln w="1016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5669280" y="2377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 BETWEEN UNBOUNDED…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69280" y="26517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window frame: sum all rows from the first row up to the current one.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532120" y="3191256"/>
            <a:ext cx="3383280" cy="777240"/>
          </a:xfrm>
          <a:prstGeom prst="rect">
            <a:avLst/>
          </a:prstGeom>
          <a:solidFill>
            <a:srgbClr val="162052"/>
          </a:solidFill>
          <a:ln w="1016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5669280" y="32644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PARTITION (2nd SUM)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69280" y="353872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PARTITION BY, the window spans the entire result set — a true all-time total.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32120" y="4078224"/>
            <a:ext cx="3383280" cy="777240"/>
          </a:xfrm>
          <a:prstGeom prst="rect">
            <a:avLst/>
          </a:prstGeom>
          <a:solidFill>
            <a:srgbClr val="162052"/>
          </a:solidFill>
          <a:ln w="1016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5669280" y="41513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CTE + Window function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0" y="44256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CTEs with window functions shows modular, readable, advanced SQL thinking.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D4A"/>
          </a:solidFill>
          <a:ln w="12700">
            <a:solidFill>
              <a:srgbClr val="111D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8 — COVID IMPACT ANALYSIS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1089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the pandemic hit all sectors equally? (Bonus query)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Multiple CTEs · JOIN between CTEs · % change · ORDER BY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029200" cy="274320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8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50292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29768" y="1088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0" y="1143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157216" y="1143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285232" y="1143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4632" y="139903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sector_2019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164134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sector,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val_2019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188366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country=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year=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2019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1259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36829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61061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sector_2020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8529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sector,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val_2020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952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WHERE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country=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year=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33756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57987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82219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a.sector,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06450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(b.val_2020-a.val_2019,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change_mt,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430682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((b.val_2020-a.val_2019)*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100.0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/a.val_2019,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pct_change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54914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sector_2019 a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sector_2020 b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a.sector=b.sector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79145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pct_change;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32120" y="1051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COVID's unequal sector impact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32120" y="1417320"/>
            <a:ext cx="3383280" cy="420624"/>
          </a:xfrm>
          <a:prstGeom prst="rect">
            <a:avLst/>
          </a:prstGeom>
          <a:solidFill>
            <a:srgbClr val="162052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5623560" y="149047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Intl Aviation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858000" y="1490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−56.6%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726680" y="15087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flights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532120" y="1892808"/>
            <a:ext cx="3383280" cy="420624"/>
          </a:xfrm>
          <a:prstGeom prst="rect">
            <a:avLst/>
          </a:prstGeom>
          <a:solidFill>
            <a:srgbClr val="0F1A40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5623560" y="196596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Aviation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858000" y="19659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−29.3%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26680" y="19842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halved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32120" y="2368296"/>
            <a:ext cx="3383280" cy="420624"/>
          </a:xfrm>
          <a:prstGeom prst="rect">
            <a:avLst/>
          </a:prstGeom>
          <a:solidFill>
            <a:srgbClr val="162052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5623560" y="24414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858000" y="244144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−9.2%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726680" y="245973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Lockdowns &amp; WFH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32120" y="2843784"/>
            <a:ext cx="3383280" cy="420624"/>
          </a:xfrm>
          <a:prstGeom prst="rect">
            <a:avLst/>
          </a:prstGeom>
          <a:solidFill>
            <a:srgbClr val="0F1A40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5623560" y="29169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Residential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858000" y="291693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−2.6%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726680" y="293522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 heating drop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532120" y="3319272"/>
            <a:ext cx="3383280" cy="420624"/>
          </a:xfrm>
          <a:prstGeom prst="rect">
            <a:avLst/>
          </a:prstGeom>
          <a:solidFill>
            <a:srgbClr val="162052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44"/>
          <p:cNvSpPr/>
          <p:nvPr/>
        </p:nvSpPr>
        <p:spPr>
          <a:xfrm>
            <a:off x="5623560" y="33924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858000" y="33924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−2.2%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726680" y="34107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demand fell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532120" y="3794760"/>
            <a:ext cx="3383280" cy="420624"/>
          </a:xfrm>
          <a:prstGeom prst="rect">
            <a:avLst/>
          </a:prstGeom>
          <a:solidFill>
            <a:srgbClr val="0F1A40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Text 48"/>
          <p:cNvSpPr/>
          <p:nvPr/>
        </p:nvSpPr>
        <p:spPr>
          <a:xfrm>
            <a:off x="5623560" y="38679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858000" y="386791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−1.3%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726680" y="388620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Factories kept running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32120" y="4315968"/>
            <a:ext cx="3383280" cy="566928"/>
          </a:xfrm>
          <a:prstGeom prst="rect">
            <a:avLst/>
          </a:prstGeom>
          <a:solidFill>
            <a:srgbClr val="162052"/>
          </a:solidFill>
          <a:ln w="1524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4" name="Shape 52"/>
          <p:cNvSpPr/>
          <p:nvPr/>
        </p:nvSpPr>
        <p:spPr>
          <a:xfrm>
            <a:off x="5532120" y="4315968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Text 53"/>
          <p:cNvSpPr/>
          <p:nvPr/>
        </p:nvSpPr>
        <p:spPr>
          <a:xfrm>
            <a:off x="5696712" y="4407408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✈️ Shock finding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696712" y="4681728"/>
            <a:ext cx="3127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collapsed 57%. Heavy industry barely noticed (−1.3%). COVID was a transport crisis, not an industrial one.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11D4A"/>
          </a:solidFill>
          <a:ln w="12700">
            <a:solidFill>
              <a:srgbClr val="111D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 — CREATE 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310896"/>
            <a:ext cx="8686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 your analysis into a reusable SQL view.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" y="71323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CREATE VIEW · Aggregate functions · RANK() window function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5029200" cy="2560320"/>
          </a:xfrm>
          <a:prstGeom prst="rect">
            <a:avLst/>
          </a:prstGeom>
          <a:solidFill>
            <a:srgbClr val="0D1117"/>
          </a:solidFill>
          <a:ln w="12700">
            <a:solidFill>
              <a:srgbClr val="1E3A8A"/>
            </a:solidFill>
            <a:prstDash val="solid"/>
          </a:ln>
          <a:effectLst>
            <a:outerShdw blurRad="1270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320040" y="1051560"/>
            <a:ext cx="5029200" cy="27432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429768" y="108813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0" y="114300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5157216" y="114300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5285232" y="114300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484632" y="139903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 VIEW saves a query so others can reuse it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164134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like a virtual table — great for dashboards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" y="188366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OR REPLACE VIEW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vw_sector_summary_2023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212598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4632" y="236829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sector,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261061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(value)::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2)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total_mt_co2,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4632" y="285292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(value)::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4)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avg_daily_mt,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4632" y="309524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(value)::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4)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min_daily_mt,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" y="333756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(value)::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4)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max_daily_mt,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" y="357987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</a:t>
            </a: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(value)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sector_rank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" y="382219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carbon_emissions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" y="4064508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 = </a:t>
            </a: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2023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country = </a:t>
            </a: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'WORLD'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" y="4306824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sector;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" y="4549140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" y="4791456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Use it like a table anywhere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" y="5033772"/>
            <a:ext cx="4773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</a:t>
            </a: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9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vw_sector_summary_2023;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32120" y="10515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SQL skills demonstrated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32120" y="1417320"/>
            <a:ext cx="1600200" cy="420624"/>
          </a:xfrm>
          <a:prstGeom prst="rect">
            <a:avLst/>
          </a:prstGeom>
          <a:solidFill>
            <a:srgbClr val="16205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5532120" y="1417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269480" y="1417320"/>
            <a:ext cx="1600200" cy="420624"/>
          </a:xfrm>
          <a:prstGeom prst="rect">
            <a:avLst/>
          </a:prstGeom>
          <a:solidFill>
            <a:srgbClr val="16205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7269480" y="1417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/ HAVING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32120" y="1929384"/>
            <a:ext cx="1600200" cy="420624"/>
          </a:xfrm>
          <a:prstGeom prst="rect">
            <a:avLst/>
          </a:prstGeom>
          <a:solidFill>
            <a:srgbClr val="162052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5532120" y="192938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269480" y="1929384"/>
            <a:ext cx="1600200" cy="420624"/>
          </a:xfrm>
          <a:prstGeom prst="rect">
            <a:avLst/>
          </a:prstGeom>
          <a:solidFill>
            <a:srgbClr val="162052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7269480" y="1929384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32120" y="2441448"/>
            <a:ext cx="1600200" cy="420624"/>
          </a:xfrm>
          <a:prstGeom prst="rect">
            <a:avLst/>
          </a:prstGeom>
          <a:solidFill>
            <a:srgbClr val="16205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5532120" y="244144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WHEN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269480" y="2441448"/>
            <a:ext cx="1600200" cy="420624"/>
          </a:xfrm>
          <a:prstGeom prst="rect">
            <a:avLst/>
          </a:prstGeom>
          <a:solidFill>
            <a:srgbClr val="162052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7269480" y="2441448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Subqueries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532120" y="2953512"/>
            <a:ext cx="1600200" cy="420624"/>
          </a:xfrm>
          <a:prstGeom prst="rect">
            <a:avLst/>
          </a:prstGeom>
          <a:solidFill>
            <a:srgbClr val="162052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5532120" y="295351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CTEs (WITH)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269480" y="2953512"/>
            <a:ext cx="1600200" cy="420624"/>
          </a:xfrm>
          <a:prstGeom prst="rect">
            <a:avLst/>
          </a:prstGeom>
          <a:solidFill>
            <a:srgbClr val="162052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7269480" y="2953512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532120" y="3465576"/>
            <a:ext cx="1600200" cy="420624"/>
          </a:xfrm>
          <a:prstGeom prst="rect">
            <a:avLst/>
          </a:prstGeom>
          <a:solidFill>
            <a:srgbClr val="16205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5532120" y="346557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RANK() OVER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269480" y="3465576"/>
            <a:ext cx="1600200" cy="420624"/>
          </a:xfrm>
          <a:prstGeom prst="rect">
            <a:avLst/>
          </a:prstGeom>
          <a:solidFill>
            <a:srgbClr val="16205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7269480" y="3465576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SUM() OVER()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5532120" y="3977640"/>
            <a:ext cx="1600200" cy="420624"/>
          </a:xfrm>
          <a:prstGeom prst="rect">
            <a:avLst/>
          </a:prstGeom>
          <a:solidFill>
            <a:srgbClr val="162052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5532120" y="39776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PARTITION BY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269480" y="3977640"/>
            <a:ext cx="1600200" cy="420624"/>
          </a:xfrm>
          <a:prstGeom prst="rect">
            <a:avLst/>
          </a:prstGeom>
          <a:solidFill>
            <a:srgbClr val="162052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Text 51"/>
          <p:cNvSpPr/>
          <p:nvPr/>
        </p:nvSpPr>
        <p:spPr>
          <a:xfrm>
            <a:off x="7269480" y="397764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g_concl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0"/>
            <a:ext cx="47548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B1437">
              <a:alpha val="75000"/>
            </a:srgbClr>
          </a:solidFill>
          <a:ln w="12700">
            <a:solidFill>
              <a:srgbClr val="0B143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1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1A2E6E">
              <a:alpha val="25000"/>
            </a:srgbClr>
          </a:solidFill>
          <a:ln w="12700">
            <a:solidFill>
              <a:srgbClr val="1A2E6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2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365760" y="2743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DATA STORY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6217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data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tells us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365760" y="1755648"/>
            <a:ext cx="329184" cy="32918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7"/>
          <p:cNvSpPr/>
          <p:nvPr/>
        </p:nvSpPr>
        <p:spPr>
          <a:xfrm>
            <a:off x="365760" y="1755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70078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is the #1 lever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22960" y="19385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= 37.6% of global emissions. No net-zero goal succeeds without transforming the electricity grid.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65760" y="2377440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365760" y="23774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23225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China's scale is staggering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22960" y="25603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alone emits more than the US + EU + India combined. No global solution works without China.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2999232"/>
            <a:ext cx="329184" cy="3291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365760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22960" y="294436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COVID proved it is possible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2960" y="31821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5.4% drop in one year shows emissions can fall fast — but only if transport and power grids change.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65760" y="3621024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365760" y="3621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22960" y="356616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India is the wildcard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22960" y="38039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grew +7.7% since 2019 and overtook the US in power emissions — the fastest-rising major emitter.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65760" y="4242816"/>
            <a:ext cx="329184" cy="32918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3"/>
          <p:cNvSpPr/>
          <p:nvPr/>
        </p:nvSpPr>
        <p:spPr>
          <a:xfrm>
            <a:off x="365760" y="4242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41879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barely noticed COVID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2960" y="44256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 crashed 57%, but heavy industry fell only 1.3% — proving industrial decarbonisation needs direct policy.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11D4A"/>
          </a:solidFill>
          <a:ln w="12700">
            <a:solidFill>
              <a:srgbClr val="111D4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7"/>
          <p:cNvSpPr/>
          <p:nvPr/>
        </p:nvSpPr>
        <p:spPr>
          <a:xfrm>
            <a:off x="274320" y="47823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SQL · PostgreSQL · GROUP BY · CASE WHEN · CTEs · Window Functions · Data Storytelling  |  Dataset: Kaggle — Global CO₂ Emissions (135,408 rows)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2433</Words>
  <Application>Microsoft Office PowerPoint</Application>
  <PresentationFormat>On-screen Show (16:9)</PresentationFormat>
  <Paragraphs>402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Industrial Carbon Emissions — SQL Analysis</dc:title>
  <dc:subject>PptxGenJS Presentation</dc:subject>
  <dc:creator>PptxGenJS</dc:creator>
  <cp:lastModifiedBy>Neel Shah</cp:lastModifiedBy>
  <cp:revision>1</cp:revision>
  <dcterms:created xsi:type="dcterms:W3CDTF">2026-03-22T09:36:12Z</dcterms:created>
  <dcterms:modified xsi:type="dcterms:W3CDTF">2026-03-22T15:09:38Z</dcterms:modified>
</cp:coreProperties>
</file>