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"/>
            <a:ext cx="2743200" cy="2743200"/>
          </a:xfrm>
          <a:prstGeom prst="ellipse">
            <a:avLst/>
          </a:prstGeom>
          <a:solidFill>
            <a:srgbClr val="4A0E8F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640080"/>
            <a:ext cx="2011680" cy="2011680"/>
          </a:xfrm>
          <a:prstGeom prst="ellipse">
            <a:avLst/>
          </a:prstGeom>
          <a:solidFill>
            <a:srgbClr val="4A0E8F">
              <a:alpha val="35000"/>
            </a:srgbClr>
          </a:solidFill>
          <a:ln w="63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685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🦄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4572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$265B in Emerging Unicorn Valuations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920240" cy="1371600"/>
          </a:xfrm>
          <a:prstGeom prst="rect">
            <a:avLst/>
          </a:prstGeom>
          <a:solidFill>
            <a:srgbClr val="4A0E8F">
              <a:alpha val="75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</a:rPr>
              <a:t>392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Companies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926080"/>
            <a:ext cx="1920240" cy="1371600"/>
          </a:xfrm>
          <a:prstGeom prst="rect">
            <a:avLst/>
          </a:prstGeom>
          <a:solidFill>
            <a:srgbClr val="4A0E8F">
              <a:alpha val="75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9718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</a:rPr>
              <a:t>33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6032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Countries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1920240" cy="1371600"/>
          </a:xfrm>
          <a:prstGeom prst="rect">
            <a:avLst/>
          </a:prstGeom>
          <a:solidFill>
            <a:srgbClr val="4A0E8F">
              <a:alpha val="75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9718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</a:rPr>
              <a:t>$265B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6344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Total Value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926080"/>
            <a:ext cx="1920240" cy="1371600"/>
          </a:xfrm>
          <a:prstGeom prst="rect">
            <a:avLst/>
          </a:prstGeom>
          <a:solidFill>
            <a:srgbClr val="4A0E8F">
              <a:alpha val="75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9718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</a:rPr>
              <a:t>4.17x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6656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Avg Efficiency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Data Portfolio Project  |  Crunchbase Dataset  |  SQL + Excel + Statistical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</a:rPr>
              <a:t>PROJECT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14300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🗃️  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653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392 near-unicorns, 33 countries, Crunchbase source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73152" cy="114300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52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🔍  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EDA &amp; Key Patterns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8653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Geography, valuation spread, capital efficiency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5059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50592"/>
            <a:ext cx="73152" cy="114300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14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💾  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SQL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1272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7 production-grade queries: joins, CTEs, window functions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45059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450592"/>
            <a:ext cx="73152" cy="114300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514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📊  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Data Visualisations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1272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Bar, scatter, box, heatmap — all in SQL-driven 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12464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12464"/>
            <a:ext cx="73152" cy="114300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764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🧪  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" y="40965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Statistical Testing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4389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T-tests, Z-test, ANOVA, Type I/II error framework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712464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712464"/>
            <a:ext cx="73152" cy="114300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7764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💡  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83480" y="40965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Key Insights &amp; Story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4389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What $265B in unicorn data actually reveals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DATASET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566160"/>
          </a:xfrm>
          <a:prstGeom prst="rect">
            <a:avLst/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0E8F"/>
                </a:solidFill>
              </a:rPr>
              <a:t>ABOUT THE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Source: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6642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Crunchbase — Emerging Unicorns 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Records: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21122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392 companies approaching $1B valuation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Countries: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33 nations across 6 global regions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083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Fields: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300837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Name, country, region, investors, valuation, funding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Valuation: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4564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$1M – $986M (post-money value)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044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Purpose: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39044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SQL + Stats + EDA portfolio project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411480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</a:rPr>
              <a:t>TABLE SCHEMA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664208"/>
            <a:ext cx="3840480" cy="347472"/>
          </a:xfrm>
          <a:prstGeom prst="rect">
            <a:avLst/>
          </a:prstGeom>
          <a:solidFill>
            <a:srgbClr val="334155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682496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company_name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18379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E8"/>
                </a:solidFill>
              </a:rPr>
              <a:t>VARCHAR — company identifier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92040" y="2039112"/>
            <a:ext cx="3840480" cy="347472"/>
          </a:xfrm>
          <a:prstGeom prst="rect">
            <a:avLst/>
          </a:prstGeom>
          <a:solidFill>
            <a:srgbClr val="334155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05740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22128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E8"/>
                </a:solidFill>
              </a:rPr>
              <a:t>VARCHAR — HQ country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92040" y="2414016"/>
            <a:ext cx="3840480" cy="347472"/>
          </a:xfrm>
          <a:prstGeom prst="rect">
            <a:avLst/>
          </a:prstGeom>
          <a:solidFill>
            <a:srgbClr val="334155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432304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25877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E8"/>
                </a:solidFill>
              </a:rPr>
              <a:t>VARCHAR — global region (6 values)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92040" y="2788920"/>
            <a:ext cx="3840480" cy="347472"/>
          </a:xfrm>
          <a:prstGeom prst="rect">
            <a:avLst/>
          </a:prstGeom>
          <a:solidFill>
            <a:srgbClr val="334155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807208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lead_investors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29626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E8"/>
                </a:solidFill>
              </a:rPr>
              <a:t>TEXT — primary investor names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92040" y="3163824"/>
            <a:ext cx="3840480" cy="347472"/>
          </a:xfrm>
          <a:prstGeom prst="rect">
            <a:avLst/>
          </a:prstGeom>
          <a:solidFill>
            <a:srgbClr val="334155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182112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post_money_value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33375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E8"/>
                </a:solidFill>
              </a:rPr>
              <a:t>VARCHAR → DECIMAL (valuation)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92040" y="3538728"/>
            <a:ext cx="3840480" cy="347472"/>
          </a:xfrm>
          <a:prstGeom prst="rect">
            <a:avLst/>
          </a:prstGeom>
          <a:solidFill>
            <a:srgbClr val="334155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557016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total_eq_funding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83480" y="371246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E8"/>
                </a:solidFill>
              </a:rPr>
              <a:t>VARCHAR → DECIMAL (total raised)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3913632"/>
            <a:ext cx="3840480" cy="347472"/>
          </a:xfrm>
          <a:prstGeom prst="rect">
            <a:avLst/>
          </a:prstGeom>
          <a:solidFill>
            <a:srgbClr val="334155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93192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valuation_m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83480" y="40873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E8"/>
                </a:solidFill>
              </a:rPr>
              <a:t>DECIMAL — cleaned value in $M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92040" y="4288536"/>
            <a:ext cx="3840480" cy="347472"/>
          </a:xfrm>
          <a:prstGeom prst="rect">
            <a:avLst/>
          </a:prstGeom>
          <a:solidFill>
            <a:srgbClr val="334155"/>
          </a:solidFill>
          <a:ln w="6350">
            <a:solidFill>
              <a:srgbClr val="4A0E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306824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funding_m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83480" y="44622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E8"/>
                </a:solidFill>
              </a:rPr>
              <a:t>DECIMAL — cleaned funding in $M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EXPLORATORY DATA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029968" cy="141732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18872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$676M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56032" y="18288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Mean Valuation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16712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Per company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14016" y="1143000"/>
            <a:ext cx="202996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14016" y="118872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$664M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14016" y="18288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Median Valuation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14016" y="216712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Near-symmetrical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143000"/>
            <a:ext cx="202996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18872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49.7%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 Dominance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16712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195 of 392 cos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9984" y="1143000"/>
            <a:ext cx="2029968" cy="1417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9984" y="118872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$187M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29984" y="18288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Mean Funding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9984" y="216712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Raised per company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4114800" cy="2057400"/>
          </a:xfrm>
          <a:prstGeom prst="rect">
            <a:avLst/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07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0E8F"/>
                </a:solidFill>
              </a:rPr>
              <a:t>🌍  TOP 5 COUNTRIES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292608" cy="246888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46120"/>
            <a:ext cx="292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24612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United States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63240" y="3246120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195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11880" y="3246120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49.7%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547872"/>
            <a:ext cx="292608" cy="246888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547872"/>
            <a:ext cx="292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35478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India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63240" y="3547872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39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11880" y="3547872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9.9%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849624"/>
            <a:ext cx="292608" cy="246888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849624"/>
            <a:ext cx="292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384962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China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63240" y="3849624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33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11880" y="3849624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8.4%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151376"/>
            <a:ext cx="292608" cy="246888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151376"/>
            <a:ext cx="292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415137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United Kingdom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63240" y="4151376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24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11880" y="4151376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6.1%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453128"/>
            <a:ext cx="292608" cy="246888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453128"/>
            <a:ext cx="292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" y="445312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South Korea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063240" y="4453128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0E8F"/>
                </a:solidFill>
              </a:rPr>
              <a:t>16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11880" y="4453128"/>
            <a:ext cx="640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4.1%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2743200"/>
            <a:ext cx="4114800" cy="2057400"/>
          </a:xfrm>
          <a:prstGeom prst="rect">
            <a:avLst/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2807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0E8F"/>
                </a:solidFill>
              </a:rPr>
              <a:t>🗺️  REGIONS AT A GLANCE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46320" y="3246120"/>
            <a:ext cx="3931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3246120"/>
            <a:ext cx="54864" cy="219456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32461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North America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95160" y="324612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0E8F"/>
                </a:solidFill>
              </a:rPr>
              <a:t>206 cos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790688" y="324612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$137.4B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46320" y="3493008"/>
            <a:ext cx="3931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46320" y="3493008"/>
            <a:ext cx="5486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349300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Asia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995160" y="349300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119 cos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790688" y="3493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$82.8B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46320" y="3739896"/>
            <a:ext cx="3931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6320" y="3739896"/>
            <a:ext cx="54864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56048" y="37398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Europe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995160" y="373989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56 cos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790688" y="37398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$37.6B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846320" y="3986784"/>
            <a:ext cx="3931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46320" y="3986784"/>
            <a:ext cx="54864" cy="21945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56048" y="39867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Africa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995160" y="398678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94560"/>
                </a:solidFill>
              </a:rPr>
              <a:t>4 cos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790688" y="398678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$2.8B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46320" y="4233672"/>
            <a:ext cx="3931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46320" y="4233672"/>
            <a:ext cx="54864" cy="21945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56048" y="42336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South America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995160" y="423367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1"/>
                </a:solidFill>
              </a:rPr>
              <a:t>4 cos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790688" y="42336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$2.4B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846320" y="4480560"/>
            <a:ext cx="39319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46320" y="4480560"/>
            <a:ext cx="5486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56048" y="44805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Oceania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995160" y="448056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3 cos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790688" y="44805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$2.2B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SQL ANALYSIS — KEY QUERIES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206240" cy="1828800"/>
          </a:xfrm>
          <a:prstGeom prst="rect">
            <a:avLst/>
          </a:prstGeom>
          <a:solidFill>
            <a:srgbClr val="334155"/>
          </a:solidFill>
          <a:ln w="19050">
            <a:solidFill>
              <a:srgbClr val="4A0E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4206240" cy="329184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 — Region Summary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region, COUNT(*) AS count,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ROUND(AVG(valuation_m),1) AS avg_val,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ROUND(SUM(valuation_m)/1000,1) AS total_B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unicorn_companies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region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total_B DESC;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206240" cy="1828800"/>
          </a:xfrm>
          <a:prstGeom prst="rect">
            <a:avLst/>
          </a:prstGeom>
          <a:solidFill>
            <a:srgbClr val="33415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143000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430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Q2 — Efficiency Tiers (CASE)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company_name,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ROUND(valuation_m/NULLIF(funding_m,0),2) AS ratio,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WHEN ratio&gt;=10 THEN 'Elite'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WHEN ratio&gt;=5  THEN 'High'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ELSE 'Standard' END AS tier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unicorn_companies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ratio DESC;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28600" y="3063240"/>
            <a:ext cx="4206240" cy="1828800"/>
          </a:xfrm>
          <a:prstGeom prst="rect">
            <a:avLst/>
          </a:prstGeom>
          <a:solidFill>
            <a:srgbClr val="334155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063240"/>
            <a:ext cx="420624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632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Q3 — JOIN: vs Region Avg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4290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u.company_name, u.valuation_m,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r.region_avg,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ROUND(u.valuation_m-r.region_avg,1) AS vs_avg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unicorn_companies u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(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region, AVG(valuation_m) region_avg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unicorn_companies GROUP BY region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r ON u.region = r.region;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206240" cy="1828800"/>
          </a:xfrm>
          <a:prstGeom prst="rect">
            <a:avLst/>
          </a:prstGeom>
          <a:solidFill>
            <a:srgbClr val="334155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063240"/>
            <a:ext cx="4206240" cy="3291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632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Q4 — Window: Rank in Region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4290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company_name, region,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valuation_m,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(PARTITION BY region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ORDER BY valuation_m DESC)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rank_in_region,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NTILE(4) OVER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(PARTITION BY region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ORDER BY valuation_m DESC) AS quartile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unicorn_companies;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TYPE I &amp; TYPE II ERROR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32004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1430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H₀ IS TRUE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1143000"/>
            <a:ext cx="3200400" cy="438912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11430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H₀ IS FALSE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73352"/>
            <a:ext cx="192024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136392"/>
            <a:ext cx="192024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136392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FAIL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REJECT H₀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1673352"/>
            <a:ext cx="3200400" cy="1371600"/>
          </a:xfrm>
          <a:prstGeom prst="rect">
            <a:avLst/>
          </a:prstGeom>
          <a:solidFill>
            <a:srgbClr val="E94560">
              <a:alpha val="85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746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TYPE I ERROR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2167128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False Positive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α = 0.05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"Falsely claim valuations differ"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73352"/>
            <a:ext cx="3200400" cy="1371600"/>
          </a:xfrm>
          <a:prstGeom prst="rect">
            <a:avLst/>
          </a:prstGeom>
          <a:solidFill>
            <a:srgbClr val="16A34A">
              <a:alpha val="85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746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CORRECT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167128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True Positive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Power = 1−β = 0.80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"Detect real difference"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3136392"/>
            <a:ext cx="3200400" cy="1371600"/>
          </a:xfrm>
          <a:prstGeom prst="rect">
            <a:avLst/>
          </a:prstGeom>
          <a:solidFill>
            <a:srgbClr val="16A34A">
              <a:alpha val="85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2095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CORRECT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3630168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True Negative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Specificity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"Correctly retain H₀"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136392"/>
            <a:ext cx="3200400" cy="1371600"/>
          </a:xfrm>
          <a:prstGeom prst="rect">
            <a:avLst/>
          </a:prstGeom>
          <a:solidFill>
            <a:srgbClr val="D97706">
              <a:alpha val="8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2095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TYPE II ERROR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3630168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False Negative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β = 0.20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"Miss a real effect"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Applied in this project: α = 0.05  |  β = 0.20  |  Power = 0.80  |  All tests two-tailed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HYPOTHESIS TESTING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64008" cy="1207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521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One-Sample T-Test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H₀: Mean valuation = $500M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6184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23.53  |  p &lt; 0.001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81528" y="1335024"/>
            <a:ext cx="1261872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335024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REJECT H₀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185623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→ Mean of $676.6M is highly significantly above $500M threshold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521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T-Test: US vs India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142646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H₀: μ_US = μ_India (per company)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6184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-0.787  |  p = 0.432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16368" y="1335024"/>
            <a:ext cx="12618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1335024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FAIL TO REJECT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00600" y="185623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→ Despite 5× more US unicorns, per-company valuations are statistically equal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395728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395728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505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Z-Test: US vs China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27249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H₀: μ_US = μ_China (large sample)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9169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-0.878  |  p = 0.380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81528" y="2633472"/>
            <a:ext cx="12618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81528" y="263347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FAIL TO REJECT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" y="31546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→ Large-sample confirms T-test: country origin ≠ valuation magnitude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395728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395728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4505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One-Way ANOVA (3 Regions)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27249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H₀: N.America = Asia = Europe means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29169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1.478  |  p = 0.229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16368" y="2633472"/>
            <a:ext cx="12618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16368" y="263347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FAIL TO REJECT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00600" y="31546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→ Regional geography does not drive valuation — convergence toward $1B ceiling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3694176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694176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490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T-Test: High vs Low Efficiency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40233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H₀: Efficiency groups = same valuation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42153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0.996  |  p = 0.320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081528" y="3931920"/>
            <a:ext cx="12618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81528" y="39319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FAIL TO REJECT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65760" y="445312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→ Capital efficiency ratio does not predict valuation size — disruption ≠ efficiency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3694176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3694176"/>
            <a:ext cx="64008" cy="1207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7490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One-Sample T-Test (&gt;$500M)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00600" y="40233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H₀: Mean funding = $100M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00600" y="42153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11.7  |  p &lt; 0.001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16368" y="3931920"/>
            <a:ext cx="1261872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16368" y="39319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REJECT H₀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00600" y="445312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→ Mean $186.9M funding is significantly above $100M — these are capital-intensive bets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KEY INSIGHTS &amp; DATA STORY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207008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0E8F"/>
                </a:solidFill>
              </a:rPr>
              <a:t>🇺🇸  The US Monopoly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The US holds 49.7% of all near-unicorns (195/392) yet its mean valuation is statistically identical to India and China. Count dominance ≠ quality dominance.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📉  Remarkable Valuation Convergence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9344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Mean ($676M) and median ($664M) are almost equal — this is rare in financial data. Most companies cluster tightly just below the $1B unicorn threshold.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487168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487168"/>
            <a:ext cx="64008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💰  Capital Efficiency is Irrelevant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907792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Valuation/Funding ratio (efficiency) does not predict final valuation. Companies like Bitdefender (85x) and FromSoftware show bootstrapped paths are equally valid.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487168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487168"/>
            <a:ext cx="64008" cy="1207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🌍  Geography Doesn't Predict Value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907792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ANOVA across 3 major regions (p=0.23) shows no significant regional effect. A $700M unicorn in India = a $700M unicorn in Germany. Markets converge globally.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3785616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785616"/>
            <a:ext cx="64008" cy="120700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58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1"/>
                </a:solidFill>
              </a:rPr>
              <a:t>📊  SQL Reveals the Real 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20624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Window functions reveal rank-within-region nuances invisible in aggregate stats. The top company per region is only 30-45% above its regional average.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785616"/>
            <a:ext cx="4206240" cy="1207008"/>
          </a:xfrm>
          <a:prstGeom prst="rect">
            <a:avLst/>
          </a:prstGeom>
          <a:solidFill>
            <a:srgbClr val="F5F0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785616"/>
            <a:ext cx="64008" cy="1207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858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🚀  Funding is a Big Bet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420624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Mean funding of $186.9M (t-test p&lt;0.001) is significantly above $100M. These aren't seed-stage — they're fully funded bets within touching distance of unicorn status.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365760"/>
            <a:ext cx="3291840" cy="3291840"/>
          </a:xfrm>
          <a:prstGeom prst="ellipse">
            <a:avLst/>
          </a:prstGeom>
          <a:solidFill>
            <a:srgbClr val="4A0E8F">
              <a:alpha val="15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B8A0E0"/>
                </a:solidFill>
              </a:rPr>
              <a:t>WHAT THIS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</a:rPr>
              <a:t>PROJECT PROVES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1148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92808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92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8288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SQL Mastery: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9424" y="18288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E0"/>
                </a:solidFill>
              </a:rPr>
              <a:t>JOINs, CTEs, window functions, GROUPING SETS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68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30428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R Visualisation: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9424" y="230428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E0"/>
                </a:solidFill>
              </a:rPr>
              <a:t>ggplot2, dplyr, corrplot, ggrepel, patchwork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43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77977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Statistical Rigour: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9424" y="277977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E0"/>
                </a:solidFill>
              </a:rPr>
              <a:t>T-test, Z-test, ANOVA, Type I/II error framework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19272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19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2552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EDA Thinking: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49424" y="325526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E0"/>
                </a:solidFill>
              </a:rPr>
              <a:t>Skew, outliers, distributions, convergence patterns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73075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Excel Dashboards: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49424" y="373075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E0"/>
                </a:solidFill>
              </a:rPr>
              <a:t>KPI cards, charts, conditional formatting, SQL sheet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70248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0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420624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Data Storytelling: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49424" y="420624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E0"/>
                </a:solidFill>
              </a:rPr>
              <a:t>Turn 392 rows into 6 boardroom-ready insights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15544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</a:rPr>
              <a:t>Portfolio-Ready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9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SQL + R + Excel + Statistics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2606040"/>
            <a:ext cx="75895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606040"/>
            <a:ext cx="75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11112" y="2606040"/>
            <a:ext cx="758952" cy="347472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11112" y="2606040"/>
            <a:ext cx="75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61504" y="2606040"/>
            <a:ext cx="75895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61504" y="2606040"/>
            <a:ext cx="75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11896" y="2606040"/>
            <a:ext cx="758952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11896" y="2606040"/>
            <a:ext cx="75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Crunchbase Emerging Unicorns Dataset  |  Data Portfolio Project  | 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Unicorn Companies Analysis</dc:title>
  <dc:subject>PptxGenJS Presentation</dc:subject>
  <dc:creator>PptxGenJS</dc:creator>
  <cp:lastModifiedBy>PptxGenJS</cp:lastModifiedBy>
  <cp:revision>1</cp:revision>
  <dcterms:created xsi:type="dcterms:W3CDTF">2026-04-05T08:45:23Z</dcterms:created>
  <dcterms:modified xsi:type="dcterms:W3CDTF">2026-04-05T08:45:23Z</dcterms:modified>
</cp:coreProperties>
</file>