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5303520" cy="50520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109728" cy="505206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47472"/>
            <a:ext cx="1828800" cy="27432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47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863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65760" y="24323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365760" y="3090672"/>
            <a:ext cx="4572000" cy="0"/>
          </a:xfrm>
          <a:prstGeom prst="line">
            <a:avLst/>
          </a:prstGeom>
          <a:noFill/>
          <a:ln w="25400">
            <a:solidFill>
              <a:srgbClr val="00A6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186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vs Adidas | EDA · SQL · R · Excel | 3,120 Products | Revenue Optimization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1170432" cy="713232"/>
          </a:xfrm>
          <a:prstGeom prst="rect">
            <a:avLst/>
          </a:prstGeom>
          <a:solidFill>
            <a:srgbClr val="1A1A1A"/>
          </a:solidFill>
          <a:ln w="762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404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$12.3M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27632" y="3822192"/>
            <a:ext cx="1170432" cy="713232"/>
          </a:xfrm>
          <a:prstGeom prst="rect">
            <a:avLst/>
          </a:prstGeom>
          <a:solidFill>
            <a:srgbClr val="1A1A1A"/>
          </a:solidFill>
          <a:ln w="762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7632" y="38404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41696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89504" y="3822192"/>
            <a:ext cx="1170432" cy="713232"/>
          </a:xfrm>
          <a:prstGeom prst="rect">
            <a:avLst/>
          </a:prstGeom>
          <a:solidFill>
            <a:srgbClr val="1A1A1A"/>
          </a:solidFill>
          <a:ln w="762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9504" y="38404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89504" y="41696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51376" y="3822192"/>
            <a:ext cx="1170432" cy="713232"/>
          </a:xfrm>
          <a:prstGeom prst="rect">
            <a:avLst/>
          </a:prstGeom>
          <a:solidFill>
            <a:srgbClr val="1A1A1A"/>
          </a:solidFill>
          <a:ln w="762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38404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51376" y="41696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Tables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0" y="475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IN THIS PROJECT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804672"/>
            <a:ext cx="342900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8961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53328" y="859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53328" y="1133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queries · All techniques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0" y="1609344"/>
            <a:ext cx="342900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17007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53328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53328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5-sheet interactive workbook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2414016"/>
            <a:ext cx="342900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50545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053328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Script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53328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plots · Statistical tests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3218688"/>
            <a:ext cx="342900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3101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053328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Slides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53328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presentation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0" y="4023360"/>
            <a:ext cx="3429000" cy="694944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4114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053328" y="4078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Analysis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53328" y="4352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5-table merge · 3,120 products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974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Neel Shah · Data Analytics Portfolio  |  SQL · R · Excel · Tableau-ready  |  Target: Deloitte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BUSINESS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Revenue, Pricing &amp; Rating Baseline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SELECT · SUM() · AVG() · MIN() · MAX() · COUNT() · 5-table INNER JOIN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1965960" cy="960120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54864" cy="96012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161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$12.3M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(3-month period)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170432"/>
            <a:ext cx="1965960" cy="960120"/>
          </a:xfrm>
          <a:prstGeom prst="rect">
            <a:avLst/>
          </a:prstGeom>
          <a:solidFill>
            <a:srgbClr val="F9FAFB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70432"/>
            <a:ext cx="54864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2161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32888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Products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170432"/>
            <a:ext cx="1965960" cy="9601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170432"/>
            <a:ext cx="54864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2161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$69.72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90288" y="173736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Listing Price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product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1965960" cy="96012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49424"/>
            <a:ext cx="5486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29514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5488" y="28163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products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2249424"/>
            <a:ext cx="1965960" cy="960120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23160" y="2249424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229514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3.27 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532888" y="28163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Customer Rating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5.0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2249424"/>
            <a:ext cx="1965960" cy="960120"/>
          </a:xfrm>
          <a:prstGeom prst="rect">
            <a:avLst/>
          </a:prstGeom>
          <a:solidFill>
            <a:srgbClr val="FFF3E0"/>
          </a:solidFill>
          <a:ln w="1016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2249424"/>
            <a:ext cx="54864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229514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152K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90288" y="28163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1170432"/>
            <a:ext cx="2331720" cy="2048256"/>
          </a:xfrm>
          <a:prstGeom prst="rect">
            <a:avLst/>
          </a:prstGeom>
          <a:solidFill>
            <a:srgbClr val="1A1A2E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1170432"/>
            <a:ext cx="233172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2070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56832" y="14813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-- 5-table master join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56832" y="16276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b.brand,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56832" y="177393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SUM(f.revenue) AS revenue,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56832" y="19202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AVG(f.listing_price) AS avg_price,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56832" y="20665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AVG(r.rating) AS avg_rating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56832" y="221284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brands 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656832" y="23591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finance f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56832" y="250545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b.product_id = f.product_id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56832" y="26517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reviews 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56832" y="279806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b.product_id = r.product_id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56832" y="294436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b.brand IS NOT NULL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656832" y="30906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b.brand;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364992"/>
            <a:ext cx="8549640" cy="530352"/>
          </a:xfrm>
          <a:prstGeom prst="rect">
            <a:avLst/>
          </a:prstGeom>
          <a:solidFill>
            <a:srgbClr val="E8F5EE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364992"/>
            <a:ext cx="54864" cy="5303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" y="3456432"/>
            <a:ext cx="8293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" y="3749040"/>
            <a:ext cx="82936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tables merged using INNER JOIN on product_id. Only 3,120 of 3,179 products have complete data. Total revenue across the catalogue: $12,328,902.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Skills: SELECT · FROM · INNER JOIN · LEFT JOIN · WHERE · GROUP BY · SUM() · AVG() · MIN() · MAX() · COUNT() · ROUND()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2 — BRAND HEAD-TO-HEAD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vs Adidas: Revenue, Pricing, Ratings &amp; Reviews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GROUP BY · SUM() · AVG() · Subquery for % share · ORDER BY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4069080" cy="3273552"/>
          </a:xfrm>
          <a:prstGeom prst="rect">
            <a:avLst/>
          </a:prstGeom>
          <a:solidFill>
            <a:srgbClr val="E8F5EE"/>
          </a:solidFill>
          <a:ln w="1524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4069080" cy="54864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618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00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2575 products · 93.5% of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93392"/>
            <a:ext cx="3657600" cy="0"/>
          </a:xfrm>
          <a:prstGeom prst="line">
            <a:avLst/>
          </a:prstGeom>
          <a:noFill/>
          <a:ln w="1016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267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$11,526,619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Listing Price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706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$75.73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Discount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145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584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3.37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Reviews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48.76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09160" y="1170432"/>
            <a:ext cx="4069080" cy="3273552"/>
          </a:xfrm>
          <a:prstGeom prst="rect">
            <a:avLst/>
          </a:prstGeom>
          <a:solidFill>
            <a:srgbClr val="FFF3E0"/>
          </a:solidFill>
          <a:ln w="1524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170432"/>
            <a:ext cx="40690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2618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92040" y="1700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 products ·  6.5% of revenue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1993392"/>
            <a:ext cx="3657600" cy="0"/>
          </a:xfrm>
          <a:prstGeom prst="line">
            <a:avLst/>
          </a:prstGeom>
          <a:noFill/>
          <a:ln w="1016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2267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$802,283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92040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Listing Price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706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$41.34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92040" y="2962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Discount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145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92040" y="3401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584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2.79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92040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Reviews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4023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7.46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5760" y="4590288"/>
            <a:ext cx="8549640" cy="548640"/>
          </a:xfrm>
          <a:prstGeom prst="rect">
            <a:avLst/>
          </a:prstGeom>
          <a:solidFill>
            <a:srgbClr val="E8F5EE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4590288"/>
            <a:ext cx="54864" cy="5486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681728"/>
            <a:ext cx="8293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Critical Finding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" y="4974336"/>
            <a:ext cx="8293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= 93.5% of revenue with 33% avg discount. Nike = 6.5% with 0% discount. Nike's avg reviews (7.46) vs Adidas (48.76) is the biggest growth gap to close.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19472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SELECT brand, SUM(revenue), AVG(listing_price), AVG(discount), AVG(rating), AVG(reviews) FROM vw_products GROUP BY brand ORDER BY SUM(revenue) DESC;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3 — PRICE SEGMENTS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WHEN to classify products — Elite tier earns 80× more than Budget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CASE WHEN · GROUP BY · AVG() · SUM() · ORDER BY · Subquery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product by price tier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502920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9961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149961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Avg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14600" y="149961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Avg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20440" y="149961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Products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26280" y="149961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Products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810512"/>
            <a:ext cx="5029200" cy="475488"/>
          </a:xfrm>
          <a:prstGeom prst="rect">
            <a:avLst/>
          </a:prstGeom>
          <a:solidFill>
            <a:srgbClr val="FFF3E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2938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(&lt;$42)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08760" y="192938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$1,815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192938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20440" y="192938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192938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22576"/>
            <a:ext cx="502920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414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Mid-Range ($42-74)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08760" y="24414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$3,050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14600" y="24414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24414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24414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502920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5351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($74-130)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08760" y="295351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$5,449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295351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20440" y="295351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26280" y="295351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346704"/>
            <a:ext cx="5029200" cy="475488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4655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(&gt;$130)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508760" y="34655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$9,818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14600" y="34655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$1,566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20440" y="34655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26280" y="346557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041648"/>
            <a:ext cx="5029200" cy="566928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041648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4133088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Elite Tier Insight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" y="4425696"/>
            <a:ext cx="4773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products (&gt;$130) earn $9,818 avg per Adidas product vs $115 for Budget. Premium pricing = premium revenue.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69280" y="1170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CASE WHEN classification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0" y="1481328"/>
            <a:ext cx="3200400" cy="2450592"/>
          </a:xfrm>
          <a:prstGeom prst="rect">
            <a:avLst/>
          </a:prstGeom>
          <a:solidFill>
            <a:srgbClr val="1A1A2E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1481328"/>
            <a:ext cx="32004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15179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742432" y="1792224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brand,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742432" y="1943100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742432" y="2093976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listing_price &lt; 42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742432" y="2244852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'Budget'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42432" y="2395728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listing_price &lt; 74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42432" y="2546604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'Mid-Range'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742432" y="2697480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listing_price &lt; 130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42432" y="2848356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'Premium'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742432" y="2999232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'Elite'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742432" y="3150108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price_segment,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742432" y="3300984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ROUND(AVG(revenue),2)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42432" y="3451860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vw_products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742432" y="3602736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brand, price_segment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742432" y="3753612"/>
            <a:ext cx="307238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AVG(listing_price);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669280" y="4041648"/>
            <a:ext cx="3200400" cy="566928"/>
          </a:xfrm>
          <a:prstGeom prst="rect">
            <a:avLst/>
          </a:prstGeom>
          <a:solidFill>
            <a:srgbClr val="E8F5EE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669280" y="4041648"/>
            <a:ext cx="54864" cy="56692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33872" y="41330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Why CASE WHEN?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833872" y="4425696"/>
            <a:ext cx="2944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numeric prices into readable business tiers — essential for executive-level reporting.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SELECT brand, CASE WHEN listing_price&lt;42 THEN 'Budget' WHEN listing_price&lt;74 THEN 'Mid-Range' WHEN listing_price&lt;130 THEN 'Premium' ELSE 'Elite' END AS seg, AVG(revenue) FROM vw_products GROUP BY brand, seg;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5,6,7 — WHAT ACTUALLY DRIVES REVENUE?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Reviews, discounts, and description length — the three key levers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LENGTH() · CASE WHEN · GROUP BY · AVG() · Correlation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2761488" cy="3584448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2761488" cy="54864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6187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Reviews → Revenue (r = 0.652)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773936"/>
            <a:ext cx="2542032" cy="0"/>
          </a:xfrm>
          <a:prstGeom prst="line">
            <a:avLst/>
          </a:prstGeom>
          <a:noFill/>
          <a:ln w="762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65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reviews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665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 avg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" y="2377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 reviews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5786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$2,800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" y="28895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50-100 reviews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0906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$5,100 avg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" y="3401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reviews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6027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$12,000+ avg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986784"/>
            <a:ext cx="2761488" cy="768096"/>
          </a:xfrm>
          <a:prstGeom prst="rect">
            <a:avLst/>
          </a:prstGeom>
          <a:solidFill>
            <a:srgbClr val="00A651">
              <a:alpha val="15000"/>
            </a:srgbClr>
          </a:solidFill>
          <a:ln w="10160">
            <a:solidFill>
              <a:srgbClr val="00A6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02336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have r=0.652 — strongest predictor of revenue in the whole dataset.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0128" y="1170432"/>
            <a:ext cx="2761488" cy="3584448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1170432"/>
            <a:ext cx="276148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126187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Discount → Revenue (r = -0.125)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9856" y="1773936"/>
            <a:ext cx="2542032" cy="0"/>
          </a:xfrm>
          <a:prstGeom prst="line">
            <a:avLst/>
          </a:prstGeom>
          <a:noFill/>
          <a:ln w="762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1865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discount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19856" y="20665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$4,545 avg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19856" y="2377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1-20% off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19856" y="25786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$3,264 avg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19856" y="28895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21-40% off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19856" y="30906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$6,206 avg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19856" y="3401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41%+ off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19856" y="36027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$3,120 avg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10128" y="3986784"/>
            <a:ext cx="2761488" cy="768096"/>
          </a:xfrm>
          <a:prstGeom prst="rect">
            <a:avLst/>
          </a:prstGeom>
          <a:solidFill>
            <a:srgbClr val="D97706">
              <a:alpha val="1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9856" y="402336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NEGATIVELY correlates with revenue. No-discount products often earn more.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54496" y="1170432"/>
            <a:ext cx="2761488" cy="3584448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54496" y="1170432"/>
            <a:ext cx="276148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126187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Description Length → Revenue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4224" y="1773936"/>
            <a:ext cx="2542032" cy="0"/>
          </a:xfrm>
          <a:prstGeom prst="line">
            <a:avLst/>
          </a:prstGeom>
          <a:noFill/>
          <a:ln w="7620">
            <a:solidFill>
              <a:srgbClr val="DDD6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18653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(&lt;100 chars)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64224" y="20665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$497 avg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64224" y="2377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(100-200)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64224" y="25786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 avg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64224" y="28895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(200-300)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64224" y="30906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$3,802 avg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64224" y="3401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Long (300+)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64224" y="36027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$5,253 avg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54496" y="3986784"/>
            <a:ext cx="2761488" cy="768096"/>
          </a:xfrm>
          <a:prstGeom prst="rect">
            <a:avLst/>
          </a:prstGeom>
          <a:solidFill>
            <a:srgbClr val="7C3AED">
              <a:alpha val="1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402336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Long descriptions earn 10× more than Short ones — invest in product copy.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 SELECT CASE WHEN LENGTH(description)&lt;100 THEN 'Short' ... END AS bucket, AVG(revenue) FROM vw_products GROUP BY bucket ORDER BY AVG(LENGTH(description));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10 &amp; 8 — WINDOW FUNCTIONS + CTEs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RANK() top products per brand · NTILE() quartile analysis · CTE modular design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RANK() OVER · PARTITION BY · NTILE() · CTE (WITH) · ROW_NUMBER()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RANK() — Top 5 products per brand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457200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499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55064" y="1499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98064" y="1499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41064" y="14996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4572000" cy="438912"/>
          </a:xfrm>
          <a:prstGeom prst="rect">
            <a:avLst/>
          </a:prstGeom>
          <a:solidFill>
            <a:srgbClr val="E8F5E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8928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55064" y="18928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98064" y="18928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$37,150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41064" y="189280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67712"/>
            <a:ext cx="45720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36829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55064" y="236829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98064" y="236829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$34,990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41064" y="236829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4572000" cy="438912"/>
          </a:xfrm>
          <a:prstGeom prst="rect">
            <a:avLst/>
          </a:prstGeom>
          <a:solidFill>
            <a:srgbClr val="E8F5E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843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55064" y="2843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98064" y="2843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$33,838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41064" y="28437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18688"/>
            <a:ext cx="457200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3192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55064" y="33192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98064" y="33192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$64,203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41064" y="33192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694176"/>
            <a:ext cx="4572000" cy="438912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7947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55064" y="37947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98064" y="37947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41064" y="37947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+ RANK() Window Function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12080" y="1481328"/>
            <a:ext cx="3657600" cy="2121408"/>
          </a:xfrm>
          <a:prstGeom prst="rect">
            <a:avLst/>
          </a:prstGeom>
          <a:solidFill>
            <a:srgbClr val="1A1A2E"/>
          </a:solidFill>
          <a:ln w="10160">
            <a:solidFill>
              <a:srgbClr val="37415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1481328"/>
            <a:ext cx="36576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151790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85232" y="1792224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brand_rankings AS (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85232" y="1943100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brand, product_name,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85232" y="2093976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revenue, rating,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85232" y="2244852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 (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85232" y="2395728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PARTITION BY brand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285232" y="2546604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revenue DESC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85232" y="2697480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brand_rank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85232" y="2848356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vw_products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285232" y="2999232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285232" y="3150108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brand_rankings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285232" y="3300984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brand_rank &lt;= 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285232" y="3451860"/>
            <a:ext cx="35204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brand, brand_rank;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212080" y="3694176"/>
            <a:ext cx="3657600" cy="585216"/>
          </a:xfrm>
          <a:prstGeom prst="rect">
            <a:avLst/>
          </a:prstGeom>
          <a:solidFill>
            <a:srgbClr val="FFF3E0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212080" y="3694176"/>
            <a:ext cx="54864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37856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Nike's Hidden Potential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76672" y="4078224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Nike's #1 product (Air Jordan, $64,203) OUTPERFORMS Adidas's #1 ($37,150). Nike needs MORE hero products — not just pricing fixes.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315968"/>
            <a:ext cx="4572000" cy="566928"/>
          </a:xfrm>
          <a:prstGeom prst="rect">
            <a:avLst/>
          </a:prstGeom>
          <a:solidFill>
            <a:srgbClr val="E8F5EE"/>
          </a:solidFill>
          <a:ln w="10160">
            <a:solidFill>
              <a:srgbClr val="00A6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57200" y="4315968"/>
            <a:ext cx="54864" cy="566928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" y="440740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Quartile Finding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1792" y="4700016"/>
            <a:ext cx="4315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25% of products (Q1) earn avg $14,552. Bottom 25% earn only $124 — a 117× gap. Adidas dominates Q1.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WITH (CTE) · RANK() OVER (PARTITION BY brand ORDER BY revenue DESC) · NTILE(4) OVER · ROW_NUMBER() · Subquery benchmarking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PROGRAMMING — STATISTICAL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visualisations · Correlation tests · Linear regression · t-test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tidyverse · ggplot2 · dplyr · corrplot · scales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82296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2761488" cy="1042416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54864" cy="1042416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435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1243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Brand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1517904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Adidas $11.5M vs Nike $802K.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0128" y="1170432"/>
            <a:ext cx="2761488" cy="1042416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170432"/>
            <a:ext cx="54864" cy="10424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2435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0" y="1243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Segment Revenue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6432" y="1517904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bar: Elite &gt; Premium &gt; Mid &gt; Budget.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54496" y="1170432"/>
            <a:ext cx="2761488" cy="1042416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4496" y="1170432"/>
            <a:ext cx="54864" cy="10424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2435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76288" y="1243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517904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Violin + boxplot: Adidas 3.37 vs Nike 2.79.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322576"/>
            <a:ext cx="2761488" cy="1042416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322576"/>
            <a:ext cx="54864" cy="10424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3957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7552" y="23957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vs Revenue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" y="267004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+ LM: r=-0.125, negative trend confirmed.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10128" y="2322576"/>
            <a:ext cx="2761488" cy="1042416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0128" y="2322576"/>
            <a:ext cx="54864" cy="1042416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23957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0" y="23957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vs Revenue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56432" y="267004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Log-log scatter: r=0.652 — strongest driver.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54496" y="2322576"/>
            <a:ext cx="2761488" cy="1042416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54496" y="2322576"/>
            <a:ext cx="54864" cy="10424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3957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76288" y="23957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Length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67004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+ gradient: 10× revenue from longer copy.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474720"/>
            <a:ext cx="2761488" cy="1042416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474720"/>
            <a:ext cx="54864" cy="10424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35478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87552" y="35478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Heatmap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" y="38221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ggcorrplot: All variable relationships at once.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10128" y="3474720"/>
            <a:ext cx="2761488" cy="1042416"/>
          </a:xfrm>
          <a:prstGeom prst="rect">
            <a:avLst/>
          </a:prstGeom>
          <a:solidFill>
            <a:srgbClr val="FFF3E0"/>
          </a:solidFill>
          <a:ln w="1016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310128" y="3474720"/>
            <a:ext cx="54864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56432" y="35478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31920" y="35478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Products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56432" y="38221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bar: Nike's #1 beats Adidas #1.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54496" y="3474720"/>
            <a:ext cx="2761488" cy="1042416"/>
          </a:xfrm>
          <a:prstGeom prst="rect">
            <a:avLst/>
          </a:prstGeom>
          <a:solidFill>
            <a:srgbClr val="E8F5EE"/>
          </a:solidFill>
          <a:ln w="1016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54496" y="3474720"/>
            <a:ext cx="54864" cy="1042416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5478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6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76288" y="35478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38221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+ area: Q3 (Jul–Sep) = peak revenue.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Code: library(tidyverse) | df %&gt;% inner_join() | ggplot(aes()) | geom_col() + geom_smooth() + geom_violin() | cor() | lm() | t.test() | ggsave()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3657600" cy="50520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109728" cy="505206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29184"/>
            <a:ext cx="2194560" cy="274320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29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PORTFOLIO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3108960" cy="0"/>
          </a:xfrm>
          <a:prstGeom prst="line">
            <a:avLst/>
          </a:prstGeom>
          <a:noFill/>
          <a:ln w="19050">
            <a:solidFill>
              <a:srgbClr val="00A6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29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recommendations to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retail revenue.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743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99923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SQLite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65960" y="299923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999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+ tidyverse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31927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19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Dashboard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65960" y="331927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319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ggplot2 Charts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639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65960" y="363931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3639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59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t-test Statistics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65960" y="395935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3959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Functions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4279392"/>
            <a:ext cx="1572768" cy="256032"/>
          </a:xfrm>
          <a:prstGeom prst="rect">
            <a:avLst/>
          </a:prstGeom>
          <a:solidFill>
            <a:srgbClr val="1A1A1A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79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 Design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0" y="182880"/>
            <a:ext cx="5074920" cy="859536"/>
          </a:xfrm>
          <a:prstGeom prst="rect">
            <a:avLst/>
          </a:prstGeom>
          <a:solidFill>
            <a:srgbClr val="2D2D2D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182880"/>
            <a:ext cx="54864" cy="8595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50208" y="384048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384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07408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Nike's $0 Listing Prices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07408" y="5486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 Nike products show $0 listing price — data quality issue blocking revenue analysis. Immediate fix needed.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40480" y="1152144"/>
            <a:ext cx="5074920" cy="859536"/>
          </a:xfrm>
          <a:prstGeom prst="rect">
            <a:avLst/>
          </a:prstGeom>
          <a:solidFill>
            <a:srgbClr val="2D2D2D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840480" y="1152144"/>
            <a:ext cx="54864" cy="8595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50208" y="1353312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020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07408" y="12252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Nike Review Volume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07408" y="15179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Nike: 7.46 avg reviews vs Adidas 48.76. Reviews r=0.652 with revenue. Post-purchase email campaigns = fastest ROI.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40480" y="2121408"/>
            <a:ext cx="5074920" cy="859536"/>
          </a:xfrm>
          <a:prstGeom prst="rect">
            <a:avLst/>
          </a:prstGeom>
          <a:solidFill>
            <a:srgbClr val="2D2D2D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840480" y="2121408"/>
            <a:ext cx="54864" cy="859536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50208" y="2322576"/>
            <a:ext cx="347472" cy="347472"/>
          </a:xfrm>
          <a:prstGeom prst="ellips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50208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07408" y="21945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Adidas Discounts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07408" y="24871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No-discount products earn $7,134 avg vs $3,120 for 41%+ off. Stop discounting premium products.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840480" y="3090672"/>
            <a:ext cx="5074920" cy="859536"/>
          </a:xfrm>
          <a:prstGeom prst="rect">
            <a:avLst/>
          </a:prstGeom>
          <a:solidFill>
            <a:srgbClr val="2D2D2D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40480" y="3090672"/>
            <a:ext cx="54864" cy="8595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50208" y="329184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50208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07408" y="31638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Product Descriptions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407408" y="345643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→ Very Long descriptions = 10× revenue. Hire copywriters for 158 short-description products first.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840480" y="4059936"/>
            <a:ext cx="5074920" cy="859536"/>
          </a:xfrm>
          <a:prstGeom prst="rect">
            <a:avLst/>
          </a:prstGeom>
          <a:solidFill>
            <a:srgbClr val="2D2D2D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840480" y="4059936"/>
            <a:ext cx="54864" cy="859536"/>
          </a:xfrm>
          <a:prstGeom prst="rect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50208" y="4261104"/>
            <a:ext cx="347472" cy="347472"/>
          </a:xfrm>
          <a:prstGeom prst="ellipse">
            <a:avLst/>
          </a:prstGeom>
          <a:solidFill>
            <a:srgbClr val="00A651"/>
          </a:solidFill>
          <a:ln w="12700">
            <a:solidFill>
              <a:srgbClr val="00A6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50208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407408" y="4133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Nike's Elite Tier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407408" y="44256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 Elite products avg $1,567/product. Air Jordan ($64K) proves the model works — need 10× more hero products.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97433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5-table JOIN · 14 SQL queries · 9 R plots · Excel dashboard · RANK() · NTILE() · CASE WHEN · CTEs · t-test · lm() · ggplot2  |  Neel Shah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Sports Retail Revenue — Nike vs Adidas</dc:title>
  <dc:subject>PptxGenJS Presentation</dc:subject>
  <dc:creator>PptxGenJS</dc:creator>
  <cp:lastModifiedBy>PptxGenJS</cp:lastModifiedBy>
  <cp:revision>1</cp:revision>
  <dcterms:created xsi:type="dcterms:W3CDTF">2026-04-05T09:34:52Z</dcterms:created>
  <dcterms:modified xsi:type="dcterms:W3CDTF">2026-04-05T09:34:52Z</dcterms:modified>
</cp:coreProperties>
</file>