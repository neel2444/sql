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502920" cy="5015484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008"/>
            <a:ext cx="502920" cy="5015484"/>
          </a:xfrm>
          <a:prstGeom prst="rect">
            <a:avLst/>
          </a:prstGeom>
          <a:solidFill>
            <a:srgbClr val="C9973A">
              <a:alpha val="20000"/>
            </a:srgbClr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200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C99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578 AD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9144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World's Oldest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Businesses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| SQL Project Portfolio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2286000" cy="36576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383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C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163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731520" y="3977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34640" y="3383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C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834640" y="3977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3383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C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1,441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937760" y="3977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History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040880" y="3383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C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040880" y="3977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4480560"/>
            <a:ext cx="461772" cy="246888"/>
          </a:xfrm>
          <a:prstGeom prst="rect">
            <a:avLst/>
          </a:prstGeom>
          <a:solidFill>
            <a:srgbClr val="1A3560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480560"/>
            <a:ext cx="4617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266444" y="4480560"/>
            <a:ext cx="617220" cy="246888"/>
          </a:xfrm>
          <a:prstGeom prst="rect">
            <a:avLst/>
          </a:prstGeom>
          <a:solidFill>
            <a:srgbClr val="1A3560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66444" y="4480560"/>
            <a:ext cx="6172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956816" y="4480560"/>
            <a:ext cx="694944" cy="246888"/>
          </a:xfrm>
          <a:prstGeom prst="rect">
            <a:avLst/>
          </a:prstGeom>
          <a:solidFill>
            <a:srgbClr val="1A3560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56816" y="4480560"/>
            <a:ext cx="694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24912" y="4480560"/>
            <a:ext cx="850392" cy="246888"/>
          </a:xfrm>
          <a:prstGeom prst="rect">
            <a:avLst/>
          </a:prstGeom>
          <a:solidFill>
            <a:srgbClr val="1A3560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24912" y="4480560"/>
            <a:ext cx="850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48456" y="4480560"/>
            <a:ext cx="850392" cy="246888"/>
          </a:xfrm>
          <a:prstGeom prst="rect">
            <a:avLst/>
          </a:prstGeom>
          <a:solidFill>
            <a:srgbClr val="1A3560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48456" y="4480560"/>
            <a:ext cx="850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0" y="4480560"/>
            <a:ext cx="617220" cy="246888"/>
          </a:xfrm>
          <a:prstGeom prst="rect">
            <a:avLst/>
          </a:prstGeom>
          <a:solidFill>
            <a:srgbClr val="1A3560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4480560"/>
            <a:ext cx="6172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262372" y="4480560"/>
            <a:ext cx="694944" cy="246888"/>
          </a:xfrm>
          <a:prstGeom prst="rect">
            <a:avLst/>
          </a:prstGeom>
          <a:solidFill>
            <a:srgbClr val="1A3560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62372" y="4480560"/>
            <a:ext cx="694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030468" y="4480560"/>
            <a:ext cx="772668" cy="246888"/>
          </a:xfrm>
          <a:prstGeom prst="rect">
            <a:avLst/>
          </a:prstGeom>
          <a:solidFill>
            <a:srgbClr val="1A3560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0468" y="4480560"/>
            <a:ext cx="7726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876288" y="4480560"/>
            <a:ext cx="617220" cy="246888"/>
          </a:xfrm>
          <a:prstGeom prst="rect">
            <a:avLst/>
          </a:prstGeom>
          <a:solidFill>
            <a:srgbClr val="1A3560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76288" y="4480560"/>
            <a:ext cx="6172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AVG()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566660" y="4480560"/>
            <a:ext cx="772668" cy="246888"/>
          </a:xfrm>
          <a:prstGeom prst="rect">
            <a:avLst/>
          </a:prstGeom>
          <a:solidFill>
            <a:srgbClr val="1A3560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66660" y="4480560"/>
            <a:ext cx="7726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ROUND()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31520" y="4800600"/>
            <a:ext cx="1005840" cy="246888"/>
          </a:xfrm>
          <a:prstGeom prst="rect">
            <a:avLst/>
          </a:prstGeom>
          <a:solidFill>
            <a:srgbClr val="1A3560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480060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810512" y="4800600"/>
            <a:ext cx="539496" cy="246888"/>
          </a:xfrm>
          <a:prstGeom prst="rect">
            <a:avLst/>
          </a:prstGeom>
          <a:solidFill>
            <a:srgbClr val="1A3560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10512" y="4800600"/>
            <a:ext cx="5394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423160" y="4800600"/>
            <a:ext cx="384048" cy="246888"/>
          </a:xfrm>
          <a:prstGeom prst="rect">
            <a:avLst/>
          </a:prstGeom>
          <a:solidFill>
            <a:srgbClr val="1A3560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23160" y="4800600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880360" y="4800600"/>
            <a:ext cx="772668" cy="246888"/>
          </a:xfrm>
          <a:prstGeom prst="rect">
            <a:avLst/>
          </a:prstGeom>
          <a:solidFill>
            <a:srgbClr val="1A3560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880360" y="4800600"/>
            <a:ext cx="7726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726180" y="4800600"/>
            <a:ext cx="850392" cy="246888"/>
          </a:xfrm>
          <a:prstGeom prst="rect">
            <a:avLst/>
          </a:prstGeom>
          <a:solidFill>
            <a:srgbClr val="1A3560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26180" y="4800600"/>
            <a:ext cx="850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649724" y="4800600"/>
            <a:ext cx="461772" cy="246888"/>
          </a:xfrm>
          <a:prstGeom prst="rect">
            <a:avLst/>
          </a:prstGeom>
          <a:solidFill>
            <a:srgbClr val="1A3560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49724" y="4800600"/>
            <a:ext cx="4617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184648" y="4800600"/>
            <a:ext cx="1549908" cy="246888"/>
          </a:xfrm>
          <a:prstGeom prst="rect">
            <a:avLst/>
          </a:prstGeom>
          <a:solidFill>
            <a:srgbClr val="1A3560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84648" y="4800600"/>
            <a:ext cx="15499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Storytelling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807708" y="4800600"/>
            <a:ext cx="1627632" cy="246888"/>
          </a:xfrm>
          <a:prstGeom prst="rect">
            <a:avLst/>
          </a:prstGeom>
          <a:solidFill>
            <a:srgbClr val="1A3560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07708" y="4800600"/>
            <a:ext cx="1627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Visualisation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E8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 &amp; DATASET SCHEMA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0233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ED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64008" cy="411480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Objectives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" y="1417320"/>
            <a:ext cx="164592" cy="164592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3898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world's oldest surviving businesses and when they were founded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" y="1874520"/>
            <a:ext cx="164592" cy="164592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8470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SQL JOINs across 3 tables: businesses, categories, and countries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" y="2331720"/>
            <a:ext cx="164592" cy="164592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3042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GROUP BY, HAVING, WHERE, ORDER BY, BETWEEN, IN, DISTINCT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" y="2788920"/>
            <a:ext cx="164592" cy="164592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7614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aggregate stats with COUNT(), AVG(), ROUND()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" y="3246120"/>
            <a:ext cx="164592" cy="164592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2186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trends by continent, industry category, and founding era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" y="3703320"/>
            <a:ext cx="164592" cy="164592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6758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a compelling data story for stakeholder presentation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0" y="731520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731520"/>
            <a:ext cx="4206240" cy="384048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76809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businesses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1115568"/>
            <a:ext cx="4206240" cy="256032"/>
          </a:xfrm>
          <a:prstGeom prst="rect">
            <a:avLst/>
          </a:prstGeom>
          <a:solidFill>
            <a:srgbClr val="F5F0E8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1728" y="11338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4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   |   year_founded   |   category_code   |   country_code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81728" y="1417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Kongō Gumi           578           CAT6           JPN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681728" y="1691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sample row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0" y="2194560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2194560"/>
            <a:ext cx="4206240" cy="384048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1728" y="223113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categories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0" y="2578608"/>
            <a:ext cx="4206240" cy="256032"/>
          </a:xfrm>
          <a:prstGeom prst="rect">
            <a:avLst/>
          </a:prstGeom>
          <a:solidFill>
            <a:srgbClr val="F5F0E8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1728" y="25968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4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category_code   |   category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681728" y="28803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CAT1           Agriculture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681728" y="3154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sample row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0" y="3657600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0" y="3657600"/>
            <a:ext cx="4206240" cy="38404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1728" y="369417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countries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0" y="4041648"/>
            <a:ext cx="4206240" cy="256032"/>
          </a:xfrm>
          <a:prstGeom prst="rect">
            <a:avLst/>
          </a:prstGeom>
          <a:solidFill>
            <a:srgbClr val="F5F0E8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81728" y="40599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4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country_code   |   country   |   continent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681728" y="4343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JPN           Japan           Asia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681728" y="46177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sample row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492240" y="2103120"/>
            <a:ext cx="36576" cy="1234440"/>
          </a:xfrm>
          <a:prstGeom prst="rect">
            <a:avLst/>
          </a:prstGeom>
          <a:solidFill>
            <a:srgbClr val="8899BB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23317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SKILLS IN ACTION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2788920" cy="4206240"/>
          </a:xfrm>
          <a:prstGeom prst="rect">
            <a:avLst/>
          </a:prstGeom>
          <a:solidFill>
            <a:srgbClr val="0F2044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685800"/>
            <a:ext cx="2788920" cy="45720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4066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OLDEST — JOIN + ORDER BY + LIMIT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2606040" cy="2834640"/>
          </a:xfrm>
          <a:prstGeom prst="rect">
            <a:avLst/>
          </a:prstGeom>
          <a:solidFill>
            <a:srgbClr val="0D1B33"/>
          </a:solidFill>
          <a:ln w="12700">
            <a:solidFill>
              <a:srgbClr val="0D1B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80160"/>
            <a:ext cx="2514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b.business, b.year_founded,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c.country, cat.category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businesses b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countries c     ON b.country_code = c.country_code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categories cat  ON b.category_code = cat.category_code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b.year_founded ASC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10;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4206240"/>
            <a:ext cx="2606040" cy="475488"/>
          </a:xfrm>
          <a:prstGeom prst="rect">
            <a:avLst/>
          </a:prstGeom>
          <a:solidFill>
            <a:srgbClr val="1A3560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42519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JOIN · ORDER BY · LIMIT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46120" y="685800"/>
            <a:ext cx="2788920" cy="4206240"/>
          </a:xfrm>
          <a:prstGeom prst="rect">
            <a:avLst/>
          </a:prstGeom>
          <a:solidFill>
            <a:srgbClr val="0F2044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685800"/>
            <a:ext cx="2788920" cy="457200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74066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PER CONTINENT — GROUP BY + COUNT()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337560" y="1234440"/>
            <a:ext cx="2606040" cy="2834640"/>
          </a:xfrm>
          <a:prstGeom prst="rect">
            <a:avLst/>
          </a:prstGeom>
          <a:solidFill>
            <a:srgbClr val="0D1B33"/>
          </a:solidFill>
          <a:ln w="12700">
            <a:solidFill>
              <a:srgbClr val="0D1B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280160"/>
            <a:ext cx="2514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c.continent,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COUNT(*) AS num_businesses,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ROUND(AVG(b.year_founded), 0) AS avg_founded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businesses b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countries c ON b.country_code = c.country_code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c.continent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COUNT(*) &gt; 3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num_businesses DESC;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337560" y="4206240"/>
            <a:ext cx="2606040" cy="475488"/>
          </a:xfrm>
          <a:prstGeom prst="rect">
            <a:avLst/>
          </a:prstGeom>
          <a:solidFill>
            <a:srgbClr val="1A3560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42519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GROUP BY · HAVING · AVG() · ROUND()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217920" y="685800"/>
            <a:ext cx="2788920" cy="4206240"/>
          </a:xfrm>
          <a:prstGeom prst="rect">
            <a:avLst/>
          </a:prstGeom>
          <a:solidFill>
            <a:srgbClr val="0F2044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685800"/>
            <a:ext cx="2788920" cy="4572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74066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FOUNDED BETWEEN 1000–1500 — SUBQUERY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309360" y="1234440"/>
            <a:ext cx="2606040" cy="2834640"/>
          </a:xfrm>
          <a:prstGeom prst="rect">
            <a:avLst/>
          </a:prstGeom>
          <a:solidFill>
            <a:srgbClr val="0D1B33"/>
          </a:solidFill>
          <a:ln w="12700">
            <a:solidFill>
              <a:srgbClr val="0D1B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1280160"/>
            <a:ext cx="2514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business, year_founded, category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businesses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year_founded BETWEEN 1000 AND 1500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category_code IN 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category_code FROM categories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category LIKE '%Manufactur%'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year_founded;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309360" y="4206240"/>
            <a:ext cx="2606040" cy="475488"/>
          </a:xfrm>
          <a:prstGeom prst="rect">
            <a:avLst/>
          </a:prstGeom>
          <a:solidFill>
            <a:srgbClr val="1A3560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42519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BETWEEN · IN · Subquery · LIKE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10 OLDEST BUSINESSES IN THE WORLD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697480" y="722376"/>
            <a:ext cx="5349240" cy="292608"/>
          </a:xfrm>
          <a:prstGeom prst="rect">
            <a:avLst/>
          </a:prstGeom>
          <a:solidFill>
            <a:srgbClr val="C9973A">
              <a:alpha val="85000"/>
            </a:srgbClr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704088"/>
            <a:ext cx="329184" cy="329184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704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1792" y="72237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Kongō Gumi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092440" y="74066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578 AD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842248" y="7406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97480" y="1170432"/>
            <a:ext cx="4633886" cy="292608"/>
          </a:xfrm>
          <a:prstGeom prst="rect">
            <a:avLst/>
          </a:prstGeom>
          <a:solidFill>
            <a:srgbClr val="C9973A">
              <a:alpha val="85000"/>
            </a:srgbClr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152144"/>
            <a:ext cx="329184" cy="329184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152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11704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 Peter Stifts Kulinarium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404518" y="11887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803 AD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154326" y="11887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Austria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697480" y="1618488"/>
            <a:ext cx="4410338" cy="292608"/>
          </a:xfrm>
          <a:prstGeom prst="rect">
            <a:avLst/>
          </a:prstGeom>
          <a:solidFill>
            <a:srgbClr val="C9973A">
              <a:alpha val="85000"/>
            </a:srgbClr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1600200"/>
            <a:ext cx="329184" cy="329184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1600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" y="161848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Staffelter Hof Winery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180970" y="163677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862 AD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930778" y="16367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697480" y="2066544"/>
            <a:ext cx="4402760" cy="292608"/>
          </a:xfrm>
          <a:prstGeom prst="rect">
            <a:avLst/>
          </a:prstGeom>
          <a:solidFill>
            <a:srgbClr val="E8A020">
              <a:alpha val="85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" y="2048256"/>
            <a:ext cx="329184" cy="329184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2048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20665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Monnaie de Paris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173392" y="208483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864 AD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923200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697480" y="2514600"/>
            <a:ext cx="4319403" cy="292608"/>
          </a:xfrm>
          <a:prstGeom prst="rect">
            <a:avLst/>
          </a:prstGeom>
          <a:solidFill>
            <a:srgbClr val="E8A020">
              <a:alpha val="85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" y="2496312"/>
            <a:ext cx="329184" cy="329184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2496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" y="25146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Royal Mint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090035" y="253288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886 AD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839843" y="25328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697480" y="2962656"/>
            <a:ext cx="4266358" cy="292608"/>
          </a:xfrm>
          <a:prstGeom prst="rect">
            <a:avLst/>
          </a:prstGeom>
          <a:solidFill>
            <a:srgbClr val="E8A020">
              <a:alpha val="85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8600" y="2944368"/>
            <a:ext cx="329184" cy="329184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" y="2944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" y="296265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Sean's Bar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036990" y="298094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 AD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786798" y="29809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Ireland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697480" y="3410712"/>
            <a:ext cx="3735905" cy="292608"/>
          </a:xfrm>
          <a:prstGeom prst="rect">
            <a:avLst/>
          </a:prstGeom>
          <a:solidFill>
            <a:srgbClr val="5B8DB8">
              <a:alpha val="85000"/>
            </a:srgbClr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8600" y="3392424"/>
            <a:ext cx="329184" cy="329184"/>
          </a:xfrm>
          <a:prstGeom prst="ellipse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8600" y="3392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1792" y="34107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Marinelli Bell Foundry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506537" y="34290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1040 AD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256345" y="34290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Italy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697480" y="3858768"/>
            <a:ext cx="3607081" cy="292608"/>
          </a:xfrm>
          <a:prstGeom prst="rect">
            <a:avLst/>
          </a:prstGeom>
          <a:solidFill>
            <a:srgbClr val="5B8DB8">
              <a:alpha val="85000"/>
            </a:srgbClr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28600" y="3840480"/>
            <a:ext cx="329184" cy="329184"/>
          </a:xfrm>
          <a:prstGeom prst="ellipse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8600" y="3840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21792" y="385876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Affligem Brewery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377713" y="387705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1074 AD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127521" y="38770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Belgium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697480" y="4306824"/>
            <a:ext cx="3375955" cy="292608"/>
          </a:xfrm>
          <a:prstGeom prst="rect">
            <a:avLst/>
          </a:prstGeom>
          <a:solidFill>
            <a:srgbClr val="5B8DB8">
              <a:alpha val="85000"/>
            </a:srgbClr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28600" y="4288536"/>
            <a:ext cx="329184" cy="329184"/>
          </a:xfrm>
          <a:prstGeom prst="ellipse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28600" y="42885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21792" y="430682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Munke Mølle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146587" y="432511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1135 AD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896395" y="43251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Denmark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2697480" y="4754880"/>
            <a:ext cx="3307754" cy="292608"/>
          </a:xfrm>
          <a:prstGeom prst="rect">
            <a:avLst/>
          </a:prstGeom>
          <a:solidFill>
            <a:srgbClr val="5B8DB8">
              <a:alpha val="85000"/>
            </a:srgbClr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28600" y="4736592"/>
            <a:ext cx="329184" cy="329184"/>
          </a:xfrm>
          <a:prstGeom prst="ellipse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28600" y="4736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21792" y="47548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Yu Ching's Chicken House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078386" y="47731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1153 AD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828194" y="47731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width = years of survival  ·  Gold = Pre-1000 CE  ·  Amber = Medieval  ·  Blue = Renaissance+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E8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INDUSTRY CATEGORY ANALYSIS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468880" y="768096"/>
            <a:ext cx="4114800" cy="292608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78638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&amp; Finance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126480" y="786384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1216152"/>
            <a:ext cx="2446638" cy="2926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12344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Distillers &amp; Breweries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06958" y="123444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664208"/>
            <a:ext cx="2113005" cy="292608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168249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 &amp; Transport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673325" y="168249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D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68880" y="2112264"/>
            <a:ext cx="1779373" cy="2926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213055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Postal Service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39693" y="213055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68880" y="2560320"/>
            <a:ext cx="1668162" cy="29260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25786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&amp; Production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228482" y="2578608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59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68880" y="3008376"/>
            <a:ext cx="778476" cy="2926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" y="302666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38796" y="3026664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468880" y="3456432"/>
            <a:ext cx="667265" cy="2926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" y="347472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Beverages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27585" y="347472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BC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468880" y="3904488"/>
            <a:ext cx="667265" cy="2926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" y="392277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27585" y="392277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68880" y="4352544"/>
            <a:ext cx="667265" cy="292608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2880" y="437083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Cafés, Restaurants &amp; Bars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227585" y="43708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98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903720" y="713232"/>
            <a:ext cx="2057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03720" y="713232"/>
            <a:ext cx="2057400" cy="4114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95160" y="75895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Banking Dominates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95160" y="1216152"/>
            <a:ext cx="1874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banks — 23% of all oldest businesses. Financial institutions outlast any other sector.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903720" y="2176272"/>
            <a:ext cx="2057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03720" y="2176272"/>
            <a:ext cx="2057400" cy="4114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95160" y="22219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🍺  Brewing is Ancient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95160" y="2679192"/>
            <a:ext cx="1874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distillers &amp; breweries. Craft tradition = institutional longevity.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903720" y="3639312"/>
            <a:ext cx="2057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03720" y="3639312"/>
            <a:ext cx="2057400" cy="4114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95160" y="36850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  Modern Transport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995160" y="4142232"/>
            <a:ext cx="1874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aviation &amp; transport businesses — largely 20th-century state enterprises.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903720" y="4937760"/>
            <a:ext cx="0" cy="0"/>
          </a:xfrm>
          <a:prstGeom prst="rect">
            <a:avLst/>
          </a:prstGeom>
          <a:noFill/>
          <a:ln/>
        </p:spPr>
      </p:sp>
      <p:sp>
        <p:nvSpPr>
          <p:cNvPr id="44" name="Shape 42"/>
          <p:cNvSpPr/>
          <p:nvPr/>
        </p:nvSpPr>
        <p:spPr>
          <a:xfrm>
            <a:off x="182880" y="4645152"/>
            <a:ext cx="6537960" cy="393192"/>
          </a:xfrm>
          <a:prstGeom prst="rect">
            <a:avLst/>
          </a:prstGeom>
          <a:solidFill>
            <a:srgbClr val="EEE4C8"/>
          </a:solidFill>
          <a:ln w="12700">
            <a:solidFill>
              <a:srgbClr val="CCBF9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66344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4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used: SELECT category, COUNT(*) FROM businesses JOIN categories ON ... GROUP BY category ORDER BY COUNT(*) DESC;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IN THE WORLD? CONTINENTAL &amp; ERA DISTRIBUTION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CONTINENT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371600" y="1124712"/>
            <a:ext cx="3657600" cy="29260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1124712"/>
            <a:ext cx="1121963" cy="292608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1430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39283" y="11430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(31%)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371600" y="1755648"/>
            <a:ext cx="3657600" cy="29260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1755648"/>
            <a:ext cx="942449" cy="292608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177393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59769" y="17739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(26%)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371600" y="2386584"/>
            <a:ext cx="3657600" cy="29260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2386584"/>
            <a:ext cx="942449" cy="2926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" y="240487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59769" y="24048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(26%)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371600" y="3017520"/>
            <a:ext cx="3657600" cy="29260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0" y="3017520"/>
            <a:ext cx="381467" cy="2926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" y="30358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798787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(10%)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371600" y="3648456"/>
            <a:ext cx="3657600" cy="29260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71600" y="3648456"/>
            <a:ext cx="201953" cy="29260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" y="366674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America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619273" y="36667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(6%)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371600" y="4279392"/>
            <a:ext cx="3657600" cy="292608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71600" y="4279392"/>
            <a:ext cx="67318" cy="2926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" y="429768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Oceania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484638" y="42976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(2%)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37760" y="594360"/>
            <a:ext cx="27432" cy="4343400"/>
          </a:xfrm>
          <a:prstGeom prst="rect">
            <a:avLst/>
          </a:prstGeom>
          <a:solidFill>
            <a:srgbClr val="8899BB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640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FOUNDING ERA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75120" y="1124712"/>
            <a:ext cx="3383280" cy="29260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75120" y="1124712"/>
            <a:ext cx="302980" cy="292608"/>
          </a:xfrm>
          <a:prstGeom prst="rect">
            <a:avLst/>
          </a:prstGeom>
          <a:solidFill>
            <a:srgbClr val="F0C060"/>
          </a:solidFill>
          <a:ln w="12700">
            <a:solidFill>
              <a:srgbClr val="F0C0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66360" y="11430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1000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069540" y="11430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675120" y="1755648"/>
            <a:ext cx="3383280" cy="29260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75120" y="1755648"/>
            <a:ext cx="706954" cy="292608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66360" y="17739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1000–1499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473514" y="177393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675120" y="2386584"/>
            <a:ext cx="3383280" cy="29260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75120" y="2386584"/>
            <a:ext cx="757451" cy="2926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66360" y="24048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1500–1699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524011" y="24048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75120" y="3017520"/>
            <a:ext cx="3383280" cy="29260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675120" y="3017520"/>
            <a:ext cx="454470" cy="292608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66360" y="30358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1700–1799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221030" y="30358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675120" y="3648456"/>
            <a:ext cx="3383280" cy="29260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675120" y="3648456"/>
            <a:ext cx="2625829" cy="2926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66360" y="36667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1800–1899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392389" y="366674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675120" y="4279392"/>
            <a:ext cx="3383280" cy="29260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675120" y="4279392"/>
            <a:ext cx="3383280" cy="2926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66360" y="42976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1900+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0149840" y="42976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74320" y="4572000"/>
            <a:ext cx="8595360" cy="475488"/>
          </a:xfrm>
          <a:prstGeom prst="rect">
            <a:avLst/>
          </a:prstGeom>
          <a:solidFill>
            <a:srgbClr val="0F2044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1480" y="461772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INSIGHT:  Africa leads with 50 businesses — many state-owned post-independence enterprises. 77% of oldest businesses were founded after 1800, showing a clear industrialisation wave.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E8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 DEEP DIVE — KEY FINDINGS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28346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658368"/>
            <a:ext cx="2834640" cy="438912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72237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#01  The 578 AD Outlier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8328" y="1207008"/>
            <a:ext cx="26151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Kongō Gumi (Japan) is the oldest business at 1,448 years old — a construction company. It operated continuously until 2006 when it was absorbed into Takamatsu Corporation. Its survival = niche specialisation in Buddhist temple construction.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658368"/>
            <a:ext cx="28346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658368"/>
            <a:ext cx="2834640" cy="438912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0128" y="72237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#02  Banking Longevity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10128" y="1207008"/>
            <a:ext cx="26151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form 23% of oldest businesses globally. Financial institutions leverage regulatory protection, national trust, and capital compounding to survive centuries. Monte dei Paschi di Siena (1472) is the world's oldest active bank.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72200" y="658368"/>
            <a:ext cx="28346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658368"/>
            <a:ext cx="2834640" cy="43891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81928" y="72237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#03  Africa's Modern Dominance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81928" y="1207008"/>
            <a:ext cx="26151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African businesses lead globally — but most founded post-1960 (independence era). State-owned enterprises in aviation, postal, and energy sectors dominate. This skews Africa's count vs. genuine longevity.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2852928"/>
            <a:ext cx="28346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2852928"/>
            <a:ext cx="2834640" cy="43891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" y="291693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#04  European Deep Roots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" y="3401568"/>
            <a:ext cx="26151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has 42 businesses, but many date before 1500. Average founding year in Europe is ~1650 — the oldest average of any continent. Medieval craft guilds, breweries and mints form the backbone.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0" y="2852928"/>
            <a:ext cx="28346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2852928"/>
            <a:ext cx="2834640" cy="43891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291693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#05  The Brewing Tradition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10128" y="3401568"/>
            <a:ext cx="26151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Distillers, Vintners &amp; Breweries survive across centuries. Brewing = cultural institution. Affligem Brewery (Belgium, 1074) and Weihenstephan (Germany, 1040) represent monastic origins of commercial brewing.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72200" y="2852928"/>
            <a:ext cx="28346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2852928"/>
            <a:ext cx="2834640" cy="43891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81928" y="291693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#06  Industrial Revolution Surge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81928" y="3401568"/>
            <a:ext cx="26151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businesses (41%) founded post-1900. A clear inflection point at 1800–1900 with 52 new entries aligns with the Industrial Revolution, railways, and telegraph enabling mass-market business formation.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STORYTELLING — THE SURVIVAL FORMULA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2788920" cy="3794760"/>
          </a:xfrm>
          <a:prstGeom prst="rect">
            <a:avLst/>
          </a:prstGeom>
          <a:solidFill>
            <a:srgbClr val="0A1628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658368"/>
            <a:ext cx="2788920" cy="50292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70408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 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8328" y="12527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Ancient Roots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38328" y="1691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578–999 AD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" y="2084832"/>
            <a:ext cx="457200" cy="36576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2212848"/>
            <a:ext cx="257860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businesses survive from antiquity. All in Asia or Europe. Specialised crafts — construction, food &amp; drink, minting — served royal and religious patrons, ensuring state protection.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658368"/>
            <a:ext cx="2788920" cy="3794760"/>
          </a:xfrm>
          <a:prstGeom prst="rect">
            <a:avLst/>
          </a:prstGeom>
          <a:solidFill>
            <a:srgbClr val="0A1628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658368"/>
            <a:ext cx="2788920" cy="5029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70408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 II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55848" y="12527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Medieval Foundations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55848" y="1691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1000–1699 AD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55848" y="2084832"/>
            <a:ext cx="4572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55848" y="2212848"/>
            <a:ext cx="257860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businesses emerge. Breweries, bell foundries, and mills flourish. Trade routes and guild systems create durable institutions. Europe dominates this era.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63640" y="658368"/>
            <a:ext cx="2788920" cy="3794760"/>
          </a:xfrm>
          <a:prstGeom prst="rect">
            <a:avLst/>
          </a:prstGeom>
          <a:solidFill>
            <a:srgbClr val="0A162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658368"/>
            <a:ext cx="2788920" cy="502920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73368" y="70408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 III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73368" y="12527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8D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Industrial Explosion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73368" y="1691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1700–1999 AD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73368" y="2084832"/>
            <a:ext cx="457200" cy="36576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73368" y="2212848"/>
            <a:ext cx="257860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businesses — 78% of dataset. Banks, airlines, postal services emerge. Colonialism and industrial capitalism create new categories of durable enterprise globally.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017520" y="2468880"/>
            <a:ext cx="228600" cy="36576"/>
          </a:xfrm>
          <a:prstGeom prst="rect">
            <a:avLst/>
          </a:prstGeom>
          <a:solidFill>
            <a:srgbClr val="8899BB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35040" y="2468880"/>
            <a:ext cx="228600" cy="36576"/>
          </a:xfrm>
          <a:prstGeom prst="rect">
            <a:avLst/>
          </a:prstGeom>
          <a:solidFill>
            <a:srgbClr val="8899BB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8600" y="4590288"/>
            <a:ext cx="8686800" cy="475488"/>
          </a:xfrm>
          <a:prstGeom prst="rect">
            <a:avLst/>
          </a:prstGeom>
          <a:solidFill>
            <a:srgbClr val="0A1628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6360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SURVIVAL FORMULA: Niche specialisation + Institutional trust + Regulatory protection + Cultural identity = Centuries of survival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E8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VISUALISATION SUMMARY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82880" y="621792"/>
            <a:ext cx="4297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583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Industries (Top 5)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71600" y="1051560"/>
            <a:ext cx="3291840" cy="22860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698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Banking…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709160" y="106984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371600" y="1371600"/>
            <a:ext cx="1957310" cy="228600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3898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Distillers…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374630" y="13898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371600" y="1691640"/>
            <a:ext cx="1690404" cy="2286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17099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Aviation…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107724" y="170992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371600" y="2011680"/>
            <a:ext cx="1423498" cy="2286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20299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Postal…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840818" y="202996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371600" y="2331720"/>
            <a:ext cx="1334530" cy="2286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3500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Manufacturing…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751850" y="23500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621792"/>
            <a:ext cx="4297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6583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Businesses by Continent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1051560"/>
            <a:ext cx="3291840" cy="22860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06984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372600" y="106984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35040" y="1371600"/>
            <a:ext cx="2765146" cy="228600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38988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845906" y="13898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35040" y="1691640"/>
            <a:ext cx="2765146" cy="2286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170992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845906" y="170992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35040" y="2011680"/>
            <a:ext cx="1119226" cy="2286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02996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199986" y="202996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035040" y="2331720"/>
            <a:ext cx="592531" cy="2286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235000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673291" y="23500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035040" y="2651760"/>
            <a:ext cx="197510" cy="2286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267004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Oceania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278270" y="267004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82880" y="2880360"/>
            <a:ext cx="42976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2926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Founding Era Distribution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371600" y="3337560"/>
            <a:ext cx="294792" cy="201168"/>
          </a:xfrm>
          <a:prstGeom prst="rect">
            <a:avLst/>
          </a:prstGeom>
          <a:solidFill>
            <a:srgbClr val="F0C060"/>
          </a:solidFill>
          <a:ln w="12700">
            <a:solidFill>
              <a:srgbClr val="F0C06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8600" y="33558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1000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712112" y="33558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1371600" y="3611880"/>
            <a:ext cx="687847" cy="201168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8600" y="36301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1000–1499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105167" y="3630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371600" y="3886200"/>
            <a:ext cx="736979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28600" y="39044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1500–1699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154299" y="39044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1371600" y="4160520"/>
            <a:ext cx="442187" cy="201168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28600" y="41788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1700–1799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859507" y="417880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1371600" y="4434840"/>
            <a:ext cx="2554861" cy="20116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28600" y="44531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1800–1899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972181" y="44531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371600" y="4709160"/>
            <a:ext cx="3291840" cy="2011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28600" y="4727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1900+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709160" y="47274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663440" y="2880360"/>
            <a:ext cx="42976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54880" y="2926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5 Oldest Businesses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709160" y="3337560"/>
            <a:ext cx="3474720" cy="246888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36592" y="3355848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Kongō Gumi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8211312" y="3355848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578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709160" y="3675888"/>
            <a:ext cx="2934795" cy="24688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736592" y="3694176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 Peter Stifts K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7671387" y="3694176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803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709160" y="4014216"/>
            <a:ext cx="2793214" cy="246888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36592" y="4032504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Staffelter Hof Win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7529806" y="4032504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862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4709160" y="4352544"/>
            <a:ext cx="2788415" cy="246888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36592" y="4370832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Monnaie de Paris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7525007" y="437083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864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4709160" y="4690872"/>
            <a:ext cx="2735622" cy="246888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736592" y="4709160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Royal Mint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7472214" y="470916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886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SKILLS DEMONSTRATED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28600" y="731520"/>
            <a:ext cx="4023360" cy="4160520"/>
          </a:xfrm>
          <a:prstGeom prst="rect">
            <a:avLst/>
          </a:prstGeom>
          <a:solidFill>
            <a:srgbClr val="0F2044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046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7472" y="1298448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🏦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129844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&amp; Finance is the most enduring industry — 23% of all oldest businesses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47472" y="1773936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🌍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" y="177393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leads by count, but Europe leads in average business age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7472" y="2249424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🍺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9808" y="22494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Brewing &amp; distilling spans 1,000 years — cultural tradition = longevity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7472" y="2724912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🔑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49808" y="272491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 specialisation + institutional trust is the survival formula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7472" y="320040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📈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9808" y="320040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Revolution (1800–1900) created 78% of the oldest businesses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7472" y="3675888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🏯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9808" y="367588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oldest business (Kongō Gumi, 578 AD) survived 1,448 years via religious patronage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434840" y="731520"/>
            <a:ext cx="4480560" cy="4160520"/>
          </a:xfrm>
          <a:prstGeom prst="rect">
            <a:avLst/>
          </a:prstGeom>
          <a:solidFill>
            <a:srgbClr val="0F2044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80467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Demonstrated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0" y="1298448"/>
            <a:ext cx="54864" cy="182880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12984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Queries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73168" y="1664208"/>
            <a:ext cx="109728" cy="109728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16093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SELECT, FROM, WHERE, ORDER BY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73168" y="1956816"/>
            <a:ext cx="109728" cy="109728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1901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BY, HAVING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73168" y="2249424"/>
            <a:ext cx="109728" cy="109728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2194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(INNER, multiple tables)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73168" y="2542032"/>
            <a:ext cx="109728" cy="109728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6048" y="24871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 &amp; IN operator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73168" y="2834640"/>
            <a:ext cx="109728" cy="109728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27797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BETWEEN, DISTINCT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73168" y="3127248"/>
            <a:ext cx="109728" cy="109728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56048" y="30723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COUNT(), AVG(), ROUND()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0" y="3456432"/>
            <a:ext cx="54864" cy="1527048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34564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D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 Techniques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73168" y="3822192"/>
            <a:ext cx="109728" cy="109728"/>
          </a:xfrm>
          <a:prstGeom prst="ellipse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56048" y="37673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analysis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73168" y="4114800"/>
            <a:ext cx="109728" cy="109728"/>
          </a:xfrm>
          <a:prstGeom prst="ellipse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56048" y="40599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identification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73168" y="4407408"/>
            <a:ext cx="109728" cy="109728"/>
          </a:xfrm>
          <a:prstGeom prst="ellipse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56048" y="43525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&amp; segmentation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73168" y="4700016"/>
            <a:ext cx="109728" cy="109728"/>
          </a:xfrm>
          <a:prstGeom prst="ellipse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56048" y="4645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detection across eras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73168" y="4992624"/>
            <a:ext cx="109728" cy="109728"/>
          </a:xfrm>
          <a:prstGeom prst="ellipse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56048" y="4937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Cross-table correlation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0" y="5321808"/>
            <a:ext cx="54864" cy="92354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09160" y="53218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Storytelling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773168" y="5687568"/>
            <a:ext cx="109728" cy="10972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56048" y="56327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3-Act narrative structure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773168" y="5980176"/>
            <a:ext cx="109728" cy="10972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56048" y="5925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insight cards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773168" y="6272784"/>
            <a:ext cx="109728" cy="10972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56048" y="6217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callout design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World's Oldest Businesses – EDA</dc:title>
  <dc:subject>PptxGenJS Presentation</dc:subject>
  <dc:creator>Data Analytics Portfolio</dc:creator>
  <cp:lastModifiedBy>Data Analytics Portfolio</cp:lastModifiedBy>
  <cp:revision>1</cp:revision>
  <dcterms:created xsi:type="dcterms:W3CDTF">2026-04-01T01:56:07Z</dcterms:created>
  <dcterms:modified xsi:type="dcterms:W3CDTF">2026-04-01T01:56:07Z</dcterms:modified>
</cp:coreProperties>
</file>