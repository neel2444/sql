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5120640" cy="50520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84048"/>
            <a:ext cx="2011680" cy="27432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SALES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457200" y="2779776"/>
            <a:ext cx="4389120" cy="0"/>
          </a:xfrm>
          <a:prstGeom prst="line">
            <a:avLst/>
          </a:prstGeom>
          <a:noFill/>
          <a:ln w="19050">
            <a:solidFill>
              <a:srgbClr val="00A6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0779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 · Warehouse performance · Product insights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advanced SQL across 1,000 real transactions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1078992" cy="804672"/>
          </a:xfrm>
          <a:prstGeom prst="rect">
            <a:avLst/>
          </a:prstGeom>
          <a:solidFill>
            <a:srgbClr val="2D2D2D"/>
          </a:solidFill>
          <a:ln w="10160">
            <a:solidFill>
              <a:srgbClr val="404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30752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$289K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27632" y="3703320"/>
            <a:ext cx="1078992" cy="804672"/>
          </a:xfrm>
          <a:prstGeom prst="rect">
            <a:avLst/>
          </a:prstGeom>
          <a:solidFill>
            <a:srgbClr val="2D2D2D"/>
          </a:solidFill>
          <a:ln w="10160">
            <a:solidFill>
              <a:srgbClr val="40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27632" y="3730752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27632" y="411480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98064" y="3703320"/>
            <a:ext cx="1078992" cy="804672"/>
          </a:xfrm>
          <a:prstGeom prst="rect">
            <a:avLst/>
          </a:prstGeom>
          <a:solidFill>
            <a:srgbClr val="2D2D2D"/>
          </a:solidFill>
          <a:ln w="10160">
            <a:solidFill>
              <a:srgbClr val="404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98064" y="3730752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798064" y="411480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968496" y="3703320"/>
            <a:ext cx="1078992" cy="804672"/>
          </a:xfrm>
          <a:prstGeom prst="rect">
            <a:avLst/>
          </a:prstGeom>
          <a:solidFill>
            <a:srgbClr val="2D2D2D"/>
          </a:solidFill>
          <a:ln w="10160">
            <a:solidFill>
              <a:srgbClr val="404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68496" y="3730752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968496" y="411480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0" y="4754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03520" y="804672"/>
            <a:ext cx="3611880" cy="594360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896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852160" y="8595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0" y="10789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– August 2021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0" y="1490472"/>
            <a:ext cx="3611880" cy="594360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🏭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852160" y="15453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52160" y="17647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· North · West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03520" y="2176272"/>
            <a:ext cx="3611880" cy="594360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52160" y="22311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52160" y="24505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categories tracked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03520" y="2862072"/>
            <a:ext cx="3611880" cy="594360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852160" y="29169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Types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2160" y="31363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Wholesale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303520" y="3547872"/>
            <a:ext cx="3611880" cy="594360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852160" y="36027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52160" y="38221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Cash · Transfer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303520" y="4233672"/>
            <a:ext cx="3611880" cy="594360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852160" y="42885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Skills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52160" y="45079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advanced techniques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974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Neel Shah · Data Analytics Portfolio  |  Tool: MySQL / SQLite  |  Target: Deloitte Data Analyst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BUSINESS SNAPSHOT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performance metrics — the baseline before deep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SELECT · SUM() · AVG() · MIN() · MAX() · COUNT() · ROUND()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2651760" cy="1005840"/>
          </a:xfrm>
          <a:prstGeom prst="rect">
            <a:avLst/>
          </a:prstGeom>
          <a:solidFill>
            <a:srgbClr val="E8F5EE"/>
          </a:solidFill>
          <a:ln w="1016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70432"/>
            <a:ext cx="54864" cy="100584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2435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$289,113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12064" y="17373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19385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Jun–Aug 2021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82112" y="1170432"/>
            <a:ext cx="2651760" cy="1005840"/>
          </a:xfrm>
          <a:prstGeom prst="rect">
            <a:avLst/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170432"/>
            <a:ext cx="54864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2435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28416" y="17373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28416" y="19385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period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98464" y="1170432"/>
            <a:ext cx="2651760" cy="100584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98464" y="1170432"/>
            <a:ext cx="54864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12435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$289.11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44768" y="17373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44768" y="19385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286000"/>
            <a:ext cx="2651760" cy="1005840"/>
          </a:xfrm>
          <a:prstGeom prst="rect">
            <a:avLst/>
          </a:prstGeom>
          <a:solidFill>
            <a:srgbClr val="F0FDFA"/>
          </a:solidFill>
          <a:ln w="10160">
            <a:solidFill>
              <a:srgbClr val="99F6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286000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23591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12064" y="28529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" y="30540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82112" y="2286000"/>
            <a:ext cx="2651760" cy="1005840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82112" y="228600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23591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$2,546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3328416" y="28529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Order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28416" y="30540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· Central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98464" y="2286000"/>
            <a:ext cx="2651760" cy="1005840"/>
          </a:xfrm>
          <a:prstGeom prst="rect">
            <a:avLst/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98464" y="2286000"/>
            <a:ext cx="54864" cy="100584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23591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$10.35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144768" y="28529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Order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44768" y="30540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system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456432"/>
            <a:ext cx="8412480" cy="1207008"/>
          </a:xfrm>
          <a:prstGeom prst="rect">
            <a:avLst/>
          </a:prstGeom>
          <a:solidFill>
            <a:srgbClr val="1A1A1A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" y="35295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USED ON THIS SLIDE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376732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COUNT(*) AS total_orders, ROUND(SUM(total),2) AS total_revenue, ROUND(AVG(total),2) AS avg_order,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398678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ROUND(MIN(total),2) AS smallest_order, ROUND(MAX(total),2) AS largest_order, SUM(quantity) AS units_sold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42062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sales;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974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SELECT · SUM() · AVG() · MIN() · MAX() · COUNT() · ROUND() · Aggregate functions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— WAREHOUSE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warehouse generates the most revenue?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GROUP BY · SUM() · COUNT() · ROUND() · Subquery for % share · ORDER BY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warehouse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389120" cy="658368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19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$142K  ·  49.1%  ·  480 orders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097597" cy="6583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46237" y="2743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 ·  34.7%  ·  340 orders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1450633" cy="65836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30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99273" y="3749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$47K  ·  16.2%  ·  180 orders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645152"/>
            <a:ext cx="4572000" cy="530352"/>
          </a:xfrm>
          <a:prstGeom prst="rect">
            <a:avLst/>
          </a:prstGeom>
          <a:solidFill>
            <a:srgbClr val="E8F5EE"/>
          </a:solidFill>
          <a:ln w="10160">
            <a:solidFill>
              <a:srgbClr val="00A6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645152"/>
            <a:ext cx="54864" cy="530352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736592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" y="5029200"/>
            <a:ext cx="431596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= 49.1% of revenue. West = only 16.2% — losing market share month over month.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0" y="1170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query reveals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0" y="1536192"/>
            <a:ext cx="3566160" cy="713232"/>
          </a:xfrm>
          <a:prstGeom prst="rect">
            <a:avLst/>
          </a:prstGeom>
          <a:solidFill>
            <a:srgbClr val="E8F5EE"/>
          </a:solidFill>
          <a:ln w="1016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0" y="1536192"/>
            <a:ext cx="54864" cy="713232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8112" y="16093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dominates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68112" y="18836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49.1% of all revenue. 480 orders at avg $295.80 per order.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0" y="2359152"/>
            <a:ext cx="3566160" cy="713232"/>
          </a:xfrm>
          <a:prstGeom prst="rect">
            <a:avLst/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03520" y="2359152"/>
            <a:ext cx="54864" cy="71323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68112" y="24323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is solid #2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68112" y="27066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34.7% share. Near-identical avg order ($294.72) to Central.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03520" y="3182112"/>
            <a:ext cx="3566160" cy="713232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03520" y="3182112"/>
            <a:ext cx="54864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8112" y="325526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is struggling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68112" y="35295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16.2% share despite 18% of orders — lowest avg order at $260.70.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03520" y="4005072"/>
            <a:ext cx="3566160" cy="713232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03520" y="4005072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68112" y="40782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≠ Revenue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68112" y="43525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handles more orders than its revenue share suggests — selling lower-value items.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974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SELECT warehouse, COUNT(*), ROUND(SUM(total),2) AS revenue, ROUND(SUM(total)*100.0/(SELECT SUM(total) FROM sales),2) AS pct FROM sales GROUP BY warehouse ORDER BY revenue DESC;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— PRODUCT LINE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drive the most revenue? Volume vs Value.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GROUP BY · SUM() · AVG() · ROUND() · ORDER BY · Subquery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5303520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17904" y="1188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78608" y="1188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39312" y="1188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00016" y="1188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508760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508760"/>
            <a:ext cx="54864" cy="475488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618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 &amp; traction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81328" y="1618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1618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$73,014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72384" y="16184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$33.97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913632" y="16184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020824"/>
            <a:ext cx="5303520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020824"/>
            <a:ext cx="54864" cy="475488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130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&amp; body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81328" y="21305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39696" y="2130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$69,025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072384" y="21305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$42.83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13632" y="2130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23.9%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2532888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532888"/>
            <a:ext cx="54864" cy="47548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6426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system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481328" y="26426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139696" y="2642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$43,613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072384" y="26426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$25.59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913632" y="26426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044952"/>
            <a:ext cx="5303520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044952"/>
            <a:ext cx="54864" cy="47548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154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system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481328" y="31546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139696" y="3154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$38,350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072384" y="3154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$17.74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913632" y="3154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3557016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557016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6667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481328" y="36667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139696" y="36667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$37,945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072384" y="36667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$60.09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913632" y="36667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4069080"/>
            <a:ext cx="5303520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4069080"/>
            <a:ext cx="54864" cy="47548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178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Miscellaneous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481328" y="41788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39696" y="4178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$27,166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072384" y="41788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$22.81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913632" y="4178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9.4%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65760" y="4572000"/>
            <a:ext cx="5303520" cy="53035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" y="4572000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" y="460857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Engine: only 61 orders (6th by volume) but avg price $60.09 — 3.4× the avg of Breaking system ($17.74). Low volume, maximum value.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897880" y="1170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vs Value insight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897880" y="1536192"/>
            <a:ext cx="3017520" cy="713232"/>
          </a:xfrm>
          <a:prstGeom prst="rect">
            <a:avLst/>
          </a:prstGeom>
          <a:solidFill>
            <a:srgbClr val="E8F5EE"/>
          </a:solidFill>
          <a:ln w="1016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897880" y="1536192"/>
            <a:ext cx="54864" cy="713232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62472" y="16093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 &amp; traction = #1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062472" y="18836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25.3% of revenue. High volume AND decent price.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897880" y="2359152"/>
            <a:ext cx="3017520" cy="713232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897880" y="2359152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62472" y="24323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= hidden gem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062472" y="27066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 avg unit price — highest premium product in catalogue.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897880" y="3182112"/>
            <a:ext cx="3017520" cy="713232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5897880" y="3182112"/>
            <a:ext cx="54864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62472" y="32552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system gap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062472" y="3529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orders (230) but only $17.74 avg price → least profitable per unit.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897880" y="4005072"/>
            <a:ext cx="3017520" cy="713232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5897880" y="4005072"/>
            <a:ext cx="54864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62472" y="40782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Engine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062472" y="43525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Engine volume grew from 61 → 120 orders, revenue would jump $37K+.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4974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SELECT product_line, COUNT(*), ROUND(SUM(total),2), ROUND(AVG(unit_price),2) FROM sales GROUP BY product_line ORDER BY SUM(total) DESC;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 &amp; 5 — CLIENT TYPE + PAYMENT METHOD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vs Retail — who is worth more? Where does payment go?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GROUP BY · AVG() · SUM() · COUNT() · ROUND() · ORDER BY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vs Wholesale — the real difference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4572000" cy="1353312"/>
          </a:xfrm>
          <a:prstGeom prst="rect">
            <a:avLst/>
          </a:prstGeom>
          <a:solidFill>
            <a:srgbClr val="E8F5EE"/>
          </a:solidFill>
          <a:ln w="1016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36192"/>
            <a:ext cx="54864" cy="1353312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627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(225 orders · 55.2% revenue)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" y="1956816"/>
            <a:ext cx="4224528" cy="0"/>
          </a:xfrm>
          <a:prstGeom prst="line">
            <a:avLst/>
          </a:prstGeom>
          <a:noFill/>
          <a:ln w="762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20482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3504" y="22677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$159,642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103120" y="20482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22677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$709.52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602736" y="20482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Order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02736" y="22677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$2,546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57200" y="3044952"/>
            <a:ext cx="4572000" cy="1353312"/>
          </a:xfrm>
          <a:prstGeom prst="rect">
            <a:avLst/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44952"/>
            <a:ext cx="54864" cy="135331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31363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(775 orders · 44.8% revenue)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" y="3465576"/>
            <a:ext cx="4224528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35570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3504" y="37764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$129,471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2103120" y="35570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03120" y="37764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$167.06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3602736" y="35570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Order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02736" y="37764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$1,079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457200" y="4626864"/>
            <a:ext cx="4572000" cy="512064"/>
          </a:xfrm>
          <a:prstGeom prst="rect">
            <a:avLst/>
          </a:prstGeom>
          <a:solidFill>
            <a:srgbClr val="E8F5EE"/>
          </a:solidFill>
          <a:ln w="10160">
            <a:solidFill>
              <a:srgbClr val="00A6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626864"/>
            <a:ext cx="54864" cy="512064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4718304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Business Insight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" y="5010912"/>
            <a:ext cx="431596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= 22% of orders, 55% of revenue. Every wholesale client is worth 4.25× a retail client on average.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03520" y="1170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breakdown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03520" y="1536192"/>
            <a:ext cx="3566160" cy="877824"/>
          </a:xfrm>
          <a:prstGeom prst="rect">
            <a:avLst/>
          </a:prstGeom>
          <a:solidFill>
            <a:srgbClr val="E8F5EE"/>
          </a:solidFill>
          <a:ln w="1016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03520" y="1536192"/>
            <a:ext cx="54864" cy="877824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68112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68112" y="1901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 transactions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68112" y="21031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$159,642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498080" y="16733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55.2%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5303520" y="2542032"/>
            <a:ext cx="3566160" cy="877824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303520" y="2542032"/>
            <a:ext cx="54864" cy="8778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68112" y="2615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68112" y="2907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659 transactions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68112" y="31089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$110,272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498080" y="2679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38.1%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5303520" y="3547872"/>
            <a:ext cx="3566160" cy="877824"/>
          </a:xfrm>
          <a:prstGeom prst="rect">
            <a:avLst/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303520" y="3547872"/>
            <a:ext cx="54864" cy="877824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68112" y="36210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68112" y="3913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transactions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68112" y="41148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$19,199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498080" y="36850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6.6%</a:t>
            </a:r>
            <a:endParaRPr lang="en-US" sz="2200" dirty="0"/>
          </a:p>
        </p:txBody>
      </p:sp>
      <p:sp>
        <p:nvSpPr>
          <p:cNvPr id="51" name="Shape 49"/>
          <p:cNvSpPr/>
          <p:nvPr/>
        </p:nvSpPr>
        <p:spPr>
          <a:xfrm>
            <a:off x="5303520" y="4096512"/>
            <a:ext cx="3566160" cy="512064"/>
          </a:xfrm>
          <a:prstGeom prst="rect">
            <a:avLst/>
          </a:prstGeom>
          <a:solidFill>
            <a:srgbClr val="1A1A1A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40680" y="413308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Transfer = Wholesale. The 225 transfer transactions match exactly with 225 wholesale orders — all wholesale clients pay by bank transfer.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974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SELECT client_type, COUNT(*), ROUND(SUM(total),2), ROUND(AVG(total),2) FROM sales GROUP BY client_type ORDER BY SUM(total) DESC;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4 &amp; 6 — MONTHLY TRENDS + ORDER TIERS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business growing? How do we classify orders by value?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DATE functions · MONTHNAME() · CASE WHEN · GROUP BY · ORDER BY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3912641" cy="6583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0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61281" y="17190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$95.3K  ·  361 orders  ·  avg $263.77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839864" cy="6583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06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8504" y="2724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$93.5K  ·  335 orders  ·  avg $279.25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47872"/>
            <a:ext cx="4114800" cy="658368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124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3730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$100.2K  ·  304 orders  ·  avg $329.75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26864"/>
            <a:ext cx="4572000" cy="512064"/>
          </a:xfrm>
          <a:prstGeom prst="rect">
            <a:avLst/>
          </a:prstGeom>
          <a:solidFill>
            <a:srgbClr val="E8F5EE"/>
          </a:solidFill>
          <a:ln w="10160">
            <a:solidFill>
              <a:srgbClr val="00A6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626864"/>
            <a:ext cx="54864" cy="512064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718304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Growth Signal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" y="5010912"/>
            <a:ext cx="431596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August orders (304) but HIGHEST revenue ($100K). Avg order grew from $263 → $330 — 25% increase in value.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0" y="1170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— order tier classification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0" y="1536192"/>
            <a:ext cx="3566160" cy="694944"/>
          </a:xfrm>
          <a:prstGeom prst="rect">
            <a:avLst/>
          </a:prstGeom>
          <a:solidFill>
            <a:srgbClr val="E8F5EE"/>
          </a:solidFill>
          <a:ln w="1016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0" y="1536192"/>
            <a:ext cx="54864" cy="694944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8112" y="16002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 ≥$1,000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68112" y="18653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orders · 1.8% orders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17922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$26,079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03520" y="2340864"/>
            <a:ext cx="3566160" cy="694944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03520" y="2340864"/>
            <a:ext cx="54864" cy="6949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68112" y="24048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$500–$999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68112" y="26700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orders · 10.8%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0" y="2596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$71,717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303520" y="3145536"/>
            <a:ext cx="3566160" cy="694944"/>
          </a:xfrm>
          <a:prstGeom prst="rect">
            <a:avLst/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03520" y="3145536"/>
            <a:ext cx="54864" cy="69494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68112" y="32095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$100–$499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68112" y="3474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 orders · 61.2%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0" y="34015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$174,703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303520" y="3950208"/>
            <a:ext cx="3566160" cy="694944"/>
          </a:xfrm>
          <a:prstGeom prst="rect">
            <a:avLst/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03520" y="3950208"/>
            <a:ext cx="54864" cy="694944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8112" y="40142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 &lt;$100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68112" y="4279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 orders · 26.2%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0" y="4206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$16,614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974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SELECT CASE WHEN total&gt;=1000 THEN 'Large' WHEN total&gt;=500 THEN 'Medium' WHEN total&gt;=100 THEN 'Standard' ELSE 'Small' END AS tier, COUNT(*), ROUND(SUM(total),2) FROM sales GROUP BY tier ORDER BY AVG(total) DESC;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9 &amp; 10 — CTEs + WINDOW FUNCTIONS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warehouse share + RANK() product performance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CTE (WITH) · JOIN · RANK() OVER · PARTITION BY · SUM() OVER · ROW_NUMBER()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— warehouse share by month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4572000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99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1499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0" y="1499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77640" y="1499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Month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4572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11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91640" y="1911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834640" y="19110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$44,129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58768" y="19110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46.3%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258568"/>
            <a:ext cx="457200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3408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691640" y="23408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834640" y="23408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$33,318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58768" y="23408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688336"/>
            <a:ext cx="4572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7706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91640" y="27706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34640" y="27706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$17,873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58768" y="27706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118104"/>
            <a:ext cx="4572000" cy="402336"/>
          </a:xfrm>
          <a:prstGeom prst="rect">
            <a:avLst/>
          </a:prstGeom>
          <a:solidFill>
            <a:srgbClr val="E8F5E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2004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91640" y="32004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834640" y="32004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$49,584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58768" y="32004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49.5%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547872"/>
            <a:ext cx="457200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630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691640" y="3630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834640" y="3630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$37,762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58768" y="3630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37.7%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977640"/>
            <a:ext cx="4572000" cy="402336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059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691640" y="4059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834640" y="40599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$12,899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858768" y="40599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12.9%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480560"/>
            <a:ext cx="4572000" cy="530352"/>
          </a:xfrm>
          <a:prstGeom prst="rect">
            <a:avLst/>
          </a:prstGeom>
          <a:solidFill>
            <a:srgbClr val="FEF2F2"/>
          </a:solidFill>
          <a:ln w="1016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4480560"/>
            <a:ext cx="54864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4572000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West Warehouse Alert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1792" y="4864608"/>
            <a:ext cx="431596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West's share SHRANK from 18.8% (June) → 12.9% (August). It's the only warehouse losing ground.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303520" y="1170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— top product per warehouse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303520" y="1481328"/>
            <a:ext cx="3566160" cy="1920240"/>
          </a:xfrm>
          <a:prstGeom prst="rect">
            <a:avLst/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03520" y="1481328"/>
            <a:ext cx="35661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94960" y="15179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394960" y="18105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warehouse, product_line,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94960" y="1975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ROUND(SUM(total),2) AS revenue,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94960" y="213969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RANK() OVER (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94960" y="23042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PARTITION BY warehouse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394960" y="24688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ORDER BY SUM(total) DESC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394960" y="26334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) AS rank_in_warehouse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94960" y="279806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sales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394960" y="296265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warehouse, product_line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394960" y="31272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warehouse, rank_in_warehouse;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303520" y="3493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Rank #1 per warehouse: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303520" y="3767328"/>
            <a:ext cx="3566160" cy="347472"/>
          </a:xfrm>
          <a:prstGeom prst="rect">
            <a:avLst/>
          </a:prstGeom>
          <a:solidFill>
            <a:srgbClr val="E8F5EE"/>
          </a:solidFill>
          <a:ln w="7620">
            <a:solidFill>
              <a:srgbClr val="86EFA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13248" y="38313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Central: Suspension &amp; traction — $32,671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303520" y="4151376"/>
            <a:ext cx="3566160" cy="347472"/>
          </a:xfrm>
          <a:prstGeom prst="rect">
            <a:avLst/>
          </a:prstGeom>
          <a:solidFill>
            <a:srgbClr val="E8F5EE"/>
          </a:solidFill>
          <a:ln w="7620">
            <a:solidFill>
              <a:srgbClr val="86EFA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13248" y="42153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North: Suspension &amp; traction — $30,115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303520" y="4535424"/>
            <a:ext cx="3566160" cy="347472"/>
          </a:xfrm>
          <a:prstGeom prst="rect">
            <a:avLst/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13248" y="45994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West: Frame &amp; body — $15,024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303520" y="5010912"/>
            <a:ext cx="3566160" cy="0"/>
          </a:xfrm>
          <a:prstGeom prst="rect">
            <a:avLst/>
          </a:prstGeom>
          <a:solidFill>
            <a:srgbClr val="FFFFFF"/>
          </a:solidFill>
          <a:ln w="10160">
            <a:solidFill>
              <a:srgbClr val="00A6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5303520" y="5010912"/>
            <a:ext cx="54864" cy="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68112" y="510235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468112" y="5394960"/>
            <a:ext cx="3310128" cy="-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974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WITH (CTE) · JOIN between CTEs · RANK() OVER (PARTITION BY warehouse ORDER BY SUM(total) DESC) · ROW_NUMBER() · SUM() OVER (running total)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8 &amp; 11 — SUBQUERY + JOIN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Above-average orders · Warehouse enrichment with JOIN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Subquery · LEFT JOIN · CREATE TABLE · WHERE · BETWEEN · LIKE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— orders above average value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4572000" cy="1691640"/>
          </a:xfrm>
          <a:prstGeom prst="rect">
            <a:avLst/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81328"/>
            <a:ext cx="4572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179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181051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date, warehouse, product_line,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19933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client_type, total, payment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1762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sales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35915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total &gt; (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254203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SELECT AVG(total) FROM sales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72491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29077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total DESC;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4572000" cy="987552"/>
          </a:xfrm>
          <a:prstGeom prst="rect">
            <a:avLst/>
          </a:prstGeom>
          <a:solidFill>
            <a:srgbClr val="E8F5EE"/>
          </a:solidFill>
          <a:ln w="1016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46120"/>
            <a:ext cx="54864" cy="987552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3101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Subquery Result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62102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above avg ($289.11):  305 orders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" y="378561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average value:  $637.92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" y="39502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total revenue:  $194,566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" y="411480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total revenue:  67.3%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626864"/>
            <a:ext cx="4572000" cy="512064"/>
          </a:xfrm>
          <a:prstGeom prst="rect">
            <a:avLst/>
          </a:prstGeom>
          <a:solidFill>
            <a:srgbClr val="E8F5EE"/>
          </a:solidFill>
          <a:ln w="10160">
            <a:solidFill>
              <a:srgbClr val="00A6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626864"/>
            <a:ext cx="54864" cy="512064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4718304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30-70 Rule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" y="5010912"/>
            <a:ext cx="431596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orders generate 67% of revenue — classic power-law distribution in sales data.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0" y="1170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— enriching with warehouse info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03520" y="1481328"/>
            <a:ext cx="3566160" cy="1417320"/>
          </a:xfrm>
          <a:prstGeom prst="rect">
            <a:avLst/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0" y="1481328"/>
            <a:ext cx="35661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15179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394960" y="18105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w.warehouse, w.city,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94960" y="1975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w.manager, w.capacity,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13969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COUNT(s.order_id) AS orders,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94960" y="23042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ROUND(SUM(s.total),2) AS revenue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94960" y="24688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warehouse_info w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94960" y="26334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sales 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94960" y="279806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w.warehouse = s.warehouse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94960" y="296265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w.warehouse, w.city;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03520" y="2980944"/>
            <a:ext cx="35661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76672" y="299923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65392" y="299923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54112" y="299923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03520" y="3291840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6672" y="335584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565392" y="335584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54112" y="33558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$141,983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303520" y="3694176"/>
            <a:ext cx="3566160" cy="36576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76672" y="375818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565392" y="375818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Minneapolis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754112" y="37581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$100,204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303520" y="4096512"/>
            <a:ext cx="3566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76672" y="416052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565392" y="416052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754112" y="41605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$46,926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303520" y="4517136"/>
            <a:ext cx="3566160" cy="548640"/>
          </a:xfrm>
          <a:prstGeom prst="rect">
            <a:avLst/>
          </a:prstGeom>
          <a:solidFill>
            <a:srgbClr val="EFF6FF"/>
          </a:solidFill>
          <a:ln w="1016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303520" y="4517136"/>
            <a:ext cx="54864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68112" y="460857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JOIN Insight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468112" y="4901184"/>
            <a:ext cx="33101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links two tables to add city and manager context — real-world databases always require this.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974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Subquery · LEFT JOIN · BETWEEN · LIKE · UPPER() · CONCAT() · LENGTH() — string &amp; date functions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3840480" cy="50520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347472"/>
            <a:ext cx="1645920" cy="27432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READY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863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13350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65760" y="1975104"/>
            <a:ext cx="3108960" cy="0"/>
          </a:xfrm>
          <a:prstGeom prst="line">
            <a:avLst/>
          </a:prstGeom>
          <a:noFill/>
          <a:ln w="19050">
            <a:solidFill>
              <a:srgbClr val="00A6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848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data-driven recommendations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motorcycle parts business.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SKILLS USED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999232"/>
            <a:ext cx="1572768" cy="256032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992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· WHERE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57400" y="2999232"/>
            <a:ext cx="1572768" cy="256032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29992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· HAVING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3319272"/>
            <a:ext cx="1572768" cy="256032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19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· AVG()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57400" y="3319272"/>
            <a:ext cx="1572768" cy="256032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3319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· ROUND()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3639312"/>
            <a:ext cx="1572768" cy="256032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639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057400" y="3639312"/>
            <a:ext cx="1572768" cy="256032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3639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959352"/>
            <a:ext cx="1572768" cy="256032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9593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(WITH)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057400" y="3959352"/>
            <a:ext cx="1572768" cy="256032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39593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4279392"/>
            <a:ext cx="1572768" cy="256032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2793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OVER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057400" y="4279392"/>
            <a:ext cx="1572768" cy="256032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42793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4599432"/>
            <a:ext cx="1572768" cy="256032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5994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057400" y="4599432"/>
            <a:ext cx="1572768" cy="256032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57400" y="45994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Functions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4919472"/>
            <a:ext cx="1572768" cy="256032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194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· BETWEEN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057400" y="4919472"/>
            <a:ext cx="1572768" cy="256032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49194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VIEW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023360" y="182880"/>
            <a:ext cx="4892040" cy="841248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023360" y="182880"/>
            <a:ext cx="54864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33088" y="384048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33088" y="384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90288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wholesale outreach in West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90288" y="54864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West's revenue share dropped from 18.8% → 12.9%. Targeting wholesale clients there could add $20K+ revenue.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023360" y="1152144"/>
            <a:ext cx="4892040" cy="841248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023360" y="1152144"/>
            <a:ext cx="54864" cy="841248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33088" y="1353312"/>
            <a:ext cx="347472" cy="347472"/>
          </a:xfrm>
          <a:prstGeom prst="ellipse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33088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90288" y="12252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Engine parts aggressively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90288" y="151790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orders but $60 avg unit price — highest margin product. Double volume = double the $37K revenue.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023360" y="2121408"/>
            <a:ext cx="4892040" cy="841248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023360" y="2121408"/>
            <a:ext cx="54864" cy="841248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33088" y="2322576"/>
            <a:ext cx="347472" cy="347472"/>
          </a:xfrm>
          <a:prstGeom prst="ellipse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33088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90288" y="21945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= your premium segment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90288" y="248716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4.25× higher avg order than retail ($709 vs $167). Prioritise acquisition and retention of wholesale accounts.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023360" y="3090672"/>
            <a:ext cx="4892040" cy="841248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023360" y="3090672"/>
            <a:ext cx="54864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33088" y="329184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33088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90288" y="31638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trend — quality over volume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90288" y="345643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orders in August but higher values ($329 avg). Seasonal shift toward larger purchases is a good sign.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023360" y="4059936"/>
            <a:ext cx="4892040" cy="841248"/>
          </a:xfrm>
          <a:prstGeom prst="rect">
            <a:avLst/>
          </a:prstGeom>
          <a:solidFill>
            <a:srgbClr val="2D2D2D"/>
          </a:solidFill>
          <a:ln w="6350">
            <a:solidFill>
              <a:srgbClr val="4040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023360" y="4059936"/>
            <a:ext cx="54864" cy="8412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133088" y="4261104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33088" y="4261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590288" y="4133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orders = 67% of revenue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590288" y="442569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Sub-$289 orders are low priority. Introduce minimum order thresholds or tiered pricing to lift avg order value.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40404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497433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14 SQL techniques incl. CTEs · Window Functions · RANK() · JOIN · CASE WHEN · Subqueries  |  Dataset: 1,000 motorcycle parts transactions  |  Neel Shah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Motorcycle Parts Sales — SQL Analysis</dc:title>
  <dc:subject>PptxGenJS Presentation</dc:subject>
  <dc:creator>PptxGenJS</dc:creator>
  <cp:lastModifiedBy>PptxGenJS</cp:lastModifiedBy>
  <cp:revision>1</cp:revision>
  <dcterms:created xsi:type="dcterms:W3CDTF">2026-04-01T00:37:32Z</dcterms:created>
  <dcterms:modified xsi:type="dcterms:W3CDTF">2026-04-01T00:37:32Z</dcterms:modified>
</cp:coreProperties>
</file>